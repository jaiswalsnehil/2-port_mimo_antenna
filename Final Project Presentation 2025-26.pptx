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7315200" cx="97536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E1E3CCC-242B-4FF3-A642-9CAC1C61C8A4}">
  <a:tblStyle styleId="{6E1E3CCC-242B-4FF3-A642-9CAC1C61C8A4}"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0" name="Google Shape;30;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 name="Google Shape;31;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7" name="Google Shape;37;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8" name="Google Shape;38;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1" name="Google Shape;51;p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2" name="Google Shape;5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1792288" y="612775"/>
            <a:ext cx="5486400" cy="4114800"/>
          </a:xfrm>
          <a:prstGeom prst="rect">
            <a:avLst/>
          </a:prstGeom>
          <a:noFill/>
          <a:ln>
            <a:noFill/>
          </a:ln>
        </p:spPr>
      </p:sp>
      <p:sp>
        <p:nvSpPr>
          <p:cNvPr id="58" name="Google Shape;58;p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9" name="Google Shape;59;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doi.org/10.339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77" name="Shape 77"/>
        <p:cNvGrpSpPr/>
        <p:nvPr/>
      </p:nvGrpSpPr>
      <p:grpSpPr>
        <a:xfrm>
          <a:off x="0" y="0"/>
          <a:ext cx="0" cy="0"/>
          <a:chOff x="0" y="0"/>
          <a:chExt cx="0" cy="0"/>
        </a:xfrm>
      </p:grpSpPr>
      <p:grpSp>
        <p:nvGrpSpPr>
          <p:cNvPr id="78" name="Google Shape;78;p12"/>
          <p:cNvGrpSpPr/>
          <p:nvPr/>
        </p:nvGrpSpPr>
        <p:grpSpPr>
          <a:xfrm>
            <a:off x="230075" y="109353"/>
            <a:ext cx="9293450" cy="6967907"/>
            <a:chOff x="0" y="-47625"/>
            <a:chExt cx="3442019" cy="2580706"/>
          </a:xfrm>
        </p:grpSpPr>
        <p:sp>
          <p:nvSpPr>
            <p:cNvPr id="79" name="Google Shape;79;p12"/>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80" name="Google Shape;80;p12"/>
            <p:cNvSpPr txBox="1"/>
            <p:nvPr/>
          </p:nvSpPr>
          <p:spPr>
            <a:xfrm>
              <a:off x="0" y="-47625"/>
              <a:ext cx="3442019" cy="2580706"/>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1" name="Google Shape;81;p12"/>
          <p:cNvSpPr/>
          <p:nvPr/>
        </p:nvSpPr>
        <p:spPr>
          <a:xfrm>
            <a:off x="418854" y="409766"/>
            <a:ext cx="8915892" cy="6494445"/>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2"/>
          <p:cNvSpPr txBox="1"/>
          <p:nvPr/>
        </p:nvSpPr>
        <p:spPr>
          <a:xfrm>
            <a:off x="1485412" y="721995"/>
            <a:ext cx="7035300" cy="817200"/>
          </a:xfrm>
          <a:prstGeom prst="rect">
            <a:avLst/>
          </a:prstGeom>
          <a:noFill/>
          <a:ln>
            <a:noFill/>
          </a:ln>
        </p:spPr>
        <p:txBody>
          <a:bodyPr anchorCtr="0" anchor="t" bIns="0" lIns="0" spcFirstLastPara="1" rIns="0" wrap="square" tIns="0">
            <a:spAutoFit/>
          </a:bodyPr>
          <a:lstStyle/>
          <a:p>
            <a:pPr indent="0" lvl="0" marL="0" marR="0" rtl="0" algn="ctr">
              <a:lnSpc>
                <a:spcPct val="119966"/>
              </a:lnSpc>
              <a:spcBef>
                <a:spcPts val="0"/>
              </a:spcBef>
              <a:spcAft>
                <a:spcPts val="0"/>
              </a:spcAft>
              <a:buClr>
                <a:srgbClr val="000000"/>
              </a:buClr>
              <a:buSzPts val="2414"/>
              <a:buFont typeface="Arial"/>
              <a:buNone/>
            </a:pPr>
            <a:r>
              <a:rPr b="0" i="0" lang="en-US" sz="2414" u="none" cap="none" strike="noStrike">
                <a:solidFill>
                  <a:srgbClr val="000000"/>
                </a:solidFill>
                <a:latin typeface="Times New Roman"/>
                <a:ea typeface="Times New Roman"/>
                <a:cs typeface="Times New Roman"/>
                <a:sym typeface="Times New Roman"/>
              </a:rPr>
              <a:t>Title of the Project:</a:t>
            </a:r>
            <a:endParaRPr b="0" i="0" sz="1400" u="none" cap="none" strike="noStrike">
              <a:solidFill>
                <a:srgbClr val="000000"/>
              </a:solidFill>
              <a:latin typeface="Arial"/>
              <a:ea typeface="Arial"/>
              <a:cs typeface="Arial"/>
              <a:sym typeface="Arial"/>
            </a:endParaRPr>
          </a:p>
          <a:p>
            <a:pPr indent="0" lvl="0" marL="0" marR="0" rtl="0" algn="ctr">
              <a:lnSpc>
                <a:spcPct val="119966"/>
              </a:lnSpc>
              <a:spcBef>
                <a:spcPts val="0"/>
              </a:spcBef>
              <a:spcAft>
                <a:spcPts val="0"/>
              </a:spcAft>
              <a:buClr>
                <a:srgbClr val="000000"/>
              </a:buClr>
              <a:buSzPts val="2414"/>
              <a:buFont typeface="Arial"/>
              <a:buNone/>
            </a:pPr>
            <a:r>
              <a:rPr b="0" i="0" lang="en-US" sz="2414" u="none" cap="none" strike="noStrike">
                <a:solidFill>
                  <a:srgbClr val="000000"/>
                </a:solidFill>
                <a:latin typeface="Times New Roman"/>
                <a:ea typeface="Times New Roman"/>
                <a:cs typeface="Times New Roman"/>
                <a:sym typeface="Times New Roman"/>
              </a:rPr>
              <a:t> 2-Port Microstrip MIMO Antenna</a:t>
            </a:r>
            <a:endParaRPr b="0" i="0" sz="1400" u="none" cap="none" strike="noStrike">
              <a:solidFill>
                <a:srgbClr val="000000"/>
              </a:solidFill>
              <a:latin typeface="Arial"/>
              <a:ea typeface="Arial"/>
              <a:cs typeface="Arial"/>
              <a:sym typeface="Arial"/>
            </a:endParaRPr>
          </a:p>
        </p:txBody>
      </p:sp>
      <p:grpSp>
        <p:nvGrpSpPr>
          <p:cNvPr id="83" name="Google Shape;83;p12"/>
          <p:cNvGrpSpPr/>
          <p:nvPr/>
        </p:nvGrpSpPr>
        <p:grpSpPr>
          <a:xfrm>
            <a:off x="530392" y="5974558"/>
            <a:ext cx="8692817" cy="719984"/>
            <a:chOff x="0" y="0"/>
            <a:chExt cx="12291072" cy="1018010"/>
          </a:xfrm>
        </p:grpSpPr>
        <p:sp>
          <p:nvSpPr>
            <p:cNvPr id="84" name="Google Shape;84;p12"/>
            <p:cNvSpPr/>
            <p:nvPr/>
          </p:nvSpPr>
          <p:spPr>
            <a:xfrm>
              <a:off x="0" y="0"/>
              <a:ext cx="12291072" cy="650240"/>
            </a:xfrm>
            <a:custGeom>
              <a:rect b="b" l="l" r="r" t="t"/>
              <a:pathLst>
                <a:path extrusionOk="0" h="650240" w="12291072">
                  <a:moveTo>
                    <a:pt x="0" y="0"/>
                  </a:moveTo>
                  <a:lnTo>
                    <a:pt x="12291072" y="0"/>
                  </a:lnTo>
                  <a:lnTo>
                    <a:pt x="12291072" y="650240"/>
                  </a:lnTo>
                  <a:lnTo>
                    <a:pt x="0" y="650240"/>
                  </a:lnTo>
                  <a:close/>
                </a:path>
              </a:pathLst>
            </a:custGeom>
            <a:solidFill>
              <a:srgbClr val="000000">
                <a:alpha val="0"/>
              </a:srgbClr>
            </a:solidFill>
            <a:ln>
              <a:noFill/>
            </a:ln>
          </p:spPr>
        </p:sp>
        <p:sp>
          <p:nvSpPr>
            <p:cNvPr id="85" name="Google Shape;85;p12"/>
            <p:cNvSpPr txBox="1"/>
            <p:nvPr/>
          </p:nvSpPr>
          <p:spPr>
            <a:xfrm>
              <a:off x="11" y="239810"/>
              <a:ext cx="12291000" cy="778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1800"/>
                <a:buFont typeface="Arial"/>
                <a:buNone/>
              </a:pPr>
              <a:r>
                <a:rPr b="1" i="0" lang="en-US" sz="1800" u="none" cap="none" strike="noStrike">
                  <a:solidFill>
                    <a:srgbClr val="000000"/>
                  </a:solidFill>
                  <a:latin typeface="Times"/>
                  <a:ea typeface="Times"/>
                  <a:cs typeface="Times"/>
                  <a:sym typeface="Times"/>
                </a:rPr>
                <a:t>DEPARTMENT OF ELECTRONICS AND COMMUNICATION ENGINEERING</a:t>
              </a:r>
              <a:endParaRPr b="0" i="0" sz="1400" u="none" cap="none" strike="noStrike">
                <a:solidFill>
                  <a:srgbClr val="000000"/>
                </a:solidFill>
                <a:latin typeface="Arial"/>
                <a:ea typeface="Arial"/>
                <a:cs typeface="Arial"/>
                <a:sym typeface="Arial"/>
              </a:endParaRPr>
            </a:p>
          </p:txBody>
        </p:sp>
      </p:grpSp>
      <p:sp>
        <p:nvSpPr>
          <p:cNvPr id="86" name="Google Shape;86;p12"/>
          <p:cNvSpPr/>
          <p:nvPr/>
        </p:nvSpPr>
        <p:spPr>
          <a:xfrm>
            <a:off x="4151855" y="1990622"/>
            <a:ext cx="1577693" cy="1563233"/>
          </a:xfrm>
          <a:custGeom>
            <a:rect b="b" l="l" r="r" t="t"/>
            <a:pathLst>
              <a:path extrusionOk="0" h="2210308" w="2230755">
                <a:moveTo>
                  <a:pt x="0" y="0"/>
                </a:moveTo>
                <a:lnTo>
                  <a:pt x="2230755" y="0"/>
                </a:lnTo>
                <a:lnTo>
                  <a:pt x="2230755" y="2210308"/>
                </a:lnTo>
                <a:lnTo>
                  <a:pt x="0" y="2210308"/>
                </a:lnTo>
                <a:lnTo>
                  <a:pt x="0" y="0"/>
                </a:lnTo>
                <a:close/>
              </a:path>
            </a:pathLst>
          </a:custGeom>
          <a:blipFill rotWithShape="1">
            <a:blip r:embed="rId3">
              <a:alphaModFix/>
            </a:blip>
            <a:stretch>
              <a:fillRect b="-60" l="0" r="0" t="-60"/>
            </a:stretch>
          </a:blipFill>
          <a:ln>
            <a:noFill/>
          </a:ln>
        </p:spPr>
      </p:sp>
      <p:sp>
        <p:nvSpPr>
          <p:cNvPr id="87" name="Google Shape;87;p12"/>
          <p:cNvSpPr txBox="1"/>
          <p:nvPr/>
        </p:nvSpPr>
        <p:spPr>
          <a:xfrm>
            <a:off x="1048678" y="3638550"/>
            <a:ext cx="7656300" cy="2524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NAME OF PROJECT SUPERVISOR:</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Mr. Rakesh Kumar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just">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GROUP MEMBERS: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1. </a:t>
            </a:r>
            <a:r>
              <a:rPr b="0" i="0" lang="en-US" sz="2000" u="none" cap="none" strike="noStrike">
                <a:solidFill>
                  <a:schemeClr val="dk1"/>
                </a:solidFill>
                <a:latin typeface="Times New Roman"/>
                <a:ea typeface="Times New Roman"/>
                <a:cs typeface="Times New Roman"/>
                <a:sym typeface="Times New Roman"/>
              </a:rPr>
              <a:t>Snehil Jaiswal (2200910310164)</a:t>
            </a:r>
            <a:endParaRPr b="0" i="0" sz="14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2. S</a:t>
            </a:r>
            <a:r>
              <a:rPr b="0" i="0" lang="en-US" sz="2000" u="none" cap="none" strike="noStrike">
                <a:solidFill>
                  <a:schemeClr val="dk1"/>
                </a:solidFill>
                <a:latin typeface="Times New Roman"/>
                <a:ea typeface="Times New Roman"/>
                <a:cs typeface="Times New Roman"/>
                <a:sym typeface="Times New Roman"/>
              </a:rPr>
              <a:t>hailendra Pratap Yadav (2200910310150)</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3. Shantanu Sharma (2200910310152)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91" name="Shape 91"/>
        <p:cNvGrpSpPr/>
        <p:nvPr/>
      </p:nvGrpSpPr>
      <p:grpSpPr>
        <a:xfrm>
          <a:off x="0" y="0"/>
          <a:ext cx="0" cy="0"/>
          <a:chOff x="0" y="0"/>
          <a:chExt cx="0" cy="0"/>
        </a:xfrm>
      </p:grpSpPr>
      <p:sp>
        <p:nvSpPr>
          <p:cNvPr id="92" name="Google Shape;92;p13"/>
          <p:cNvSpPr/>
          <p:nvPr/>
        </p:nvSpPr>
        <p:spPr>
          <a:xfrm>
            <a:off x="274100" y="256975"/>
            <a:ext cx="9251100" cy="678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3" name="Google Shape;93;p13"/>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b="1" lang="en-US" sz="2400">
                <a:solidFill>
                  <a:srgbClr val="475E6F"/>
                </a:solidFill>
                <a:latin typeface="Times New Roman"/>
                <a:ea typeface="Times New Roman"/>
                <a:cs typeface="Times New Roman"/>
                <a:sym typeface="Times New Roman"/>
              </a:rPr>
              <a:t>INDEX</a:t>
            </a:r>
            <a:endParaRPr b="1" sz="3600">
              <a:solidFill>
                <a:srgbClr val="475E6F"/>
              </a:solidFill>
            </a:endParaRPr>
          </a:p>
        </p:txBody>
      </p:sp>
      <p:sp>
        <p:nvSpPr>
          <p:cNvPr id="95" name="Google Shape;95;p13"/>
          <p:cNvSpPr txBox="1"/>
          <p:nvPr>
            <p:ph idx="1" type="body"/>
          </p:nvPr>
        </p:nvSpPr>
        <p:spPr>
          <a:xfrm>
            <a:off x="893325" y="1600200"/>
            <a:ext cx="7793400" cy="46701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Title of the Project</a:t>
            </a:r>
            <a:endParaRPr/>
          </a:p>
          <a:p>
            <a:pPr indent="-342900" lvl="0" marL="457200" rtl="0" algn="l">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Problem Statement</a:t>
            </a:r>
            <a:endParaRPr/>
          </a:p>
          <a:p>
            <a:pPr indent="-342900" lvl="0" marL="457200" rtl="0" algn="l">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Literature Survey</a:t>
            </a:r>
            <a:endParaRPr/>
          </a:p>
          <a:p>
            <a:pPr indent="-342900" lvl="0" marL="457200" rtl="0" algn="l">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Objective</a:t>
            </a:r>
            <a:endParaRPr/>
          </a:p>
          <a:p>
            <a:pPr indent="-342900" lvl="0" marL="457200" rtl="0" algn="l">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Methodology</a:t>
            </a:r>
            <a:endParaRPr sz="2400">
              <a:latin typeface="Times New Roman"/>
              <a:ea typeface="Times New Roman"/>
              <a:cs typeface="Times New Roman"/>
              <a:sym typeface="Times New Roman"/>
            </a:endParaRPr>
          </a:p>
          <a:p>
            <a:pPr indent="-342900" lvl="0" marL="457200" rtl="0" algn="l">
              <a:spcBef>
                <a:spcPts val="360"/>
              </a:spcBef>
              <a:spcAft>
                <a:spcPts val="0"/>
              </a:spcAft>
              <a:buSzPts val="1800"/>
              <a:buChar char="•"/>
            </a:pPr>
            <a:r>
              <a:rPr lang="en-US" sz="2400">
                <a:latin typeface="Times New Roman"/>
                <a:ea typeface="Times New Roman"/>
                <a:cs typeface="Times New Roman"/>
                <a:sym typeface="Times New Roman"/>
              </a:rPr>
              <a:t>Block Diagram</a:t>
            </a:r>
            <a:endParaRPr/>
          </a:p>
          <a:p>
            <a:pPr indent="-342900" lvl="0" marL="457200" rtl="0" algn="l">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Antenna </a:t>
            </a:r>
            <a:r>
              <a:rPr lang="en-US" sz="2400">
                <a:latin typeface="Times New Roman"/>
                <a:ea typeface="Times New Roman"/>
                <a:cs typeface="Times New Roman"/>
                <a:sym typeface="Times New Roman"/>
              </a:rPr>
              <a:t>Design</a:t>
            </a:r>
            <a:endParaRPr sz="2400">
              <a:latin typeface="Times New Roman"/>
              <a:ea typeface="Times New Roman"/>
              <a:cs typeface="Times New Roman"/>
              <a:sym typeface="Times New Roman"/>
            </a:endParaRPr>
          </a:p>
          <a:p>
            <a:pPr indent="-355600" lvl="0" marL="457200" rtl="0" algn="l">
              <a:lnSpc>
                <a:spcPct val="100000"/>
              </a:lnSpc>
              <a:spcBef>
                <a:spcPts val="360"/>
              </a:spcBef>
              <a:spcAft>
                <a:spcPts val="0"/>
              </a:spcAft>
              <a:buSzPts val="2000"/>
              <a:buFont typeface="Times New Roman"/>
              <a:buChar char="•"/>
            </a:pPr>
            <a:r>
              <a:rPr lang="en-US" sz="2400">
                <a:latin typeface="Times New Roman"/>
                <a:ea typeface="Times New Roman"/>
                <a:cs typeface="Times New Roman"/>
                <a:sym typeface="Times New Roman"/>
              </a:rPr>
              <a:t>Results</a:t>
            </a:r>
            <a:endParaRPr sz="2400">
              <a:latin typeface="Times New Roman"/>
              <a:ea typeface="Times New Roman"/>
              <a:cs typeface="Times New Roman"/>
              <a:sym typeface="Times New Roman"/>
            </a:endParaRPr>
          </a:p>
          <a:p>
            <a:pPr indent="-355600" lvl="0" marL="457200" rtl="0" algn="l">
              <a:lnSpc>
                <a:spcPct val="100000"/>
              </a:lnSpc>
              <a:spcBef>
                <a:spcPts val="360"/>
              </a:spcBef>
              <a:spcAft>
                <a:spcPts val="0"/>
              </a:spcAft>
              <a:buSzPts val="2000"/>
              <a:buFont typeface="Times New Roman"/>
              <a:buChar char="•"/>
            </a:pPr>
            <a:r>
              <a:rPr lang="en-US" sz="2400">
                <a:latin typeface="Times New Roman"/>
                <a:ea typeface="Times New Roman"/>
                <a:cs typeface="Times New Roman"/>
                <a:sym typeface="Times New Roman"/>
              </a:rPr>
              <a:t>Comaprison Table</a:t>
            </a:r>
            <a:endParaRPr sz="2400">
              <a:latin typeface="Times New Roman"/>
              <a:ea typeface="Times New Roman"/>
              <a:cs typeface="Times New Roman"/>
              <a:sym typeface="Times New Roman"/>
            </a:endParaRPr>
          </a:p>
          <a:p>
            <a:pPr indent="-355600" lvl="0" marL="457200" rtl="0" algn="l">
              <a:lnSpc>
                <a:spcPct val="100000"/>
              </a:lnSpc>
              <a:spcBef>
                <a:spcPts val="360"/>
              </a:spcBef>
              <a:spcAft>
                <a:spcPts val="0"/>
              </a:spcAft>
              <a:buSzPts val="2000"/>
              <a:buFont typeface="Times New Roman"/>
              <a:buChar char="•"/>
            </a:pPr>
            <a:r>
              <a:rPr lang="en-US" sz="2400">
                <a:latin typeface="Times New Roman"/>
                <a:ea typeface="Times New Roman"/>
                <a:cs typeface="Times New Roman"/>
                <a:sym typeface="Times New Roman"/>
              </a:rPr>
              <a:t>Conclusion</a:t>
            </a:r>
            <a:endParaRPr sz="2400">
              <a:latin typeface="Times New Roman"/>
              <a:ea typeface="Times New Roman"/>
              <a:cs typeface="Times New Roman"/>
              <a:sym typeface="Times New Roman"/>
            </a:endParaRPr>
          </a:p>
          <a:p>
            <a:pPr indent="-342900" lvl="0" marL="457200" rtl="0" algn="l">
              <a:lnSpc>
                <a:spcPct val="100000"/>
              </a:lnSpc>
              <a:spcBef>
                <a:spcPts val="360"/>
              </a:spcBef>
              <a:spcAft>
                <a:spcPts val="0"/>
              </a:spcAft>
              <a:buClr>
                <a:schemeClr val="dk1"/>
              </a:buClr>
              <a:buSzPts val="1800"/>
              <a:buChar char="•"/>
            </a:pPr>
            <a:r>
              <a:rPr lang="en-US" sz="2400">
                <a:latin typeface="Times New Roman"/>
                <a:ea typeface="Times New Roman"/>
                <a:cs typeface="Times New Roman"/>
                <a:sym typeface="Times New Roman"/>
              </a:rPr>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99" name="Shape 99"/>
        <p:cNvGrpSpPr/>
        <p:nvPr/>
      </p:nvGrpSpPr>
      <p:grpSpPr>
        <a:xfrm>
          <a:off x="0" y="0"/>
          <a:ext cx="0" cy="0"/>
          <a:chOff x="0" y="0"/>
          <a:chExt cx="0" cy="0"/>
        </a:xfrm>
      </p:grpSpPr>
      <p:sp>
        <p:nvSpPr>
          <p:cNvPr id="100" name="Google Shape;100;p14"/>
          <p:cNvSpPr txBox="1"/>
          <p:nvPr/>
        </p:nvSpPr>
        <p:spPr>
          <a:xfrm>
            <a:off x="455100" y="421375"/>
            <a:ext cx="8798400" cy="6489300"/>
          </a:xfrm>
          <a:prstGeom prst="rect">
            <a:avLst/>
          </a:prstGeom>
          <a:noFill/>
          <a:ln>
            <a:noFill/>
          </a:ln>
        </p:spPr>
        <p:txBody>
          <a:bodyPr anchorCtr="0" anchor="t" bIns="91425" lIns="91425" spcFirstLastPara="1" rIns="91425" wrap="square" tIns="91425">
            <a:noAutofit/>
          </a:bodyPr>
          <a:lstStyle/>
          <a:p>
            <a:pPr indent="0" lvl="0" marL="0" marR="0" rtl="0" algn="ctr">
              <a:lnSpc>
                <a:spcPct val="120009"/>
              </a:lnSpc>
              <a:spcBef>
                <a:spcPts val="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sp>
        <p:nvSpPr>
          <p:cNvPr id="101" name="Google Shape;101;p14"/>
          <p:cNvSpPr/>
          <p:nvPr/>
        </p:nvSpPr>
        <p:spPr>
          <a:xfrm>
            <a:off x="251250" y="265500"/>
            <a:ext cx="9251100" cy="6784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2" name="Google Shape;102;p14"/>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4"/>
          <p:cNvSpPr txBox="1"/>
          <p:nvPr/>
        </p:nvSpPr>
        <p:spPr>
          <a:xfrm>
            <a:off x="667775" y="637425"/>
            <a:ext cx="8438400" cy="5994900"/>
          </a:xfrm>
          <a:prstGeom prst="rect">
            <a:avLst/>
          </a:prstGeom>
          <a:noFill/>
          <a:ln>
            <a:noFill/>
          </a:ln>
        </p:spPr>
        <p:txBody>
          <a:bodyPr anchorCtr="0" anchor="t" bIns="91425" lIns="91425" spcFirstLastPara="1" rIns="91425" wrap="square" tIns="91425">
            <a:noAutofit/>
          </a:bodyPr>
          <a:lstStyle/>
          <a:p>
            <a:pPr indent="0" lvl="0" marL="0" marR="0" rtl="0" algn="ctr">
              <a:lnSpc>
                <a:spcPct val="120009"/>
              </a:lnSpc>
              <a:spcBef>
                <a:spcPts val="0"/>
              </a:spcBef>
              <a:spcAft>
                <a:spcPts val="0"/>
              </a:spcAft>
              <a:buClr>
                <a:srgbClr val="000000"/>
              </a:buClr>
              <a:buSzPts val="2169"/>
              <a:buFont typeface="Arial"/>
              <a:buNone/>
            </a:pPr>
            <a:r>
              <a:t/>
            </a:r>
            <a:endParaRPr b="0" i="0" sz="2169" u="none" cap="none" strike="noStrike">
              <a:solidFill>
                <a:srgbClr val="475E6F"/>
              </a:solidFill>
              <a:latin typeface="Times New Roman"/>
              <a:ea typeface="Times New Roman"/>
              <a:cs typeface="Times New Roman"/>
              <a:sym typeface="Times New Roman"/>
            </a:endParaRPr>
          </a:p>
          <a:p>
            <a:pPr indent="0" lvl="0" marL="0" marR="0" rtl="0" algn="ctr">
              <a:lnSpc>
                <a:spcPct val="120009"/>
              </a:lnSpc>
              <a:spcBef>
                <a:spcPts val="0"/>
              </a:spcBef>
              <a:spcAft>
                <a:spcPts val="0"/>
              </a:spcAft>
              <a:buClr>
                <a:srgbClr val="000000"/>
              </a:buClr>
              <a:buSzPts val="2400"/>
              <a:buFont typeface="Arial"/>
              <a:buNone/>
            </a:pPr>
            <a:r>
              <a:rPr b="1" i="0" lang="en-US" sz="2400" u="none" cap="none" strike="noStrike">
                <a:solidFill>
                  <a:srgbClr val="475E6F"/>
                </a:solidFill>
                <a:latin typeface="Times New Roman"/>
                <a:ea typeface="Times New Roman"/>
                <a:cs typeface="Times New Roman"/>
                <a:sym typeface="Times New Roman"/>
              </a:rPr>
              <a:t>TITLE OF THE PROJECT</a:t>
            </a:r>
            <a:r>
              <a:rPr b="1" i="0" lang="en-US" sz="2169" u="none" cap="none" strike="noStrike">
                <a:solidFill>
                  <a:srgbClr val="475E6F"/>
                </a:solidFill>
                <a:latin typeface="Times New Roman"/>
                <a:ea typeface="Times New Roman"/>
                <a:cs typeface="Times New Roman"/>
                <a:sym typeface="Times New Roman"/>
              </a:rPr>
              <a:t> </a:t>
            </a:r>
            <a:endParaRPr b="1" i="0" sz="2169" u="none" cap="none" strike="noStrike">
              <a:solidFill>
                <a:srgbClr val="475E6F"/>
              </a:solidFill>
              <a:latin typeface="Times New Roman"/>
              <a:ea typeface="Times New Roman"/>
              <a:cs typeface="Times New Roman"/>
              <a:sym typeface="Times New Roman"/>
            </a:endParaRPr>
          </a:p>
          <a:p>
            <a:pPr indent="0" lvl="0" marL="0" marR="0" rtl="0" algn="ctr">
              <a:lnSpc>
                <a:spcPct val="120009"/>
              </a:lnSpc>
              <a:spcBef>
                <a:spcPts val="0"/>
              </a:spcBef>
              <a:spcAft>
                <a:spcPts val="0"/>
              </a:spcAft>
              <a:buClr>
                <a:srgbClr val="000000"/>
              </a:buClr>
              <a:buSzPts val="2169"/>
              <a:buFont typeface="Arial"/>
              <a:buNone/>
            </a:pPr>
            <a:r>
              <a:t/>
            </a:r>
            <a:endParaRPr b="0" i="0" sz="2169" u="none" cap="none" strike="noStrike">
              <a:solidFill>
                <a:srgbClr val="475E6F"/>
              </a:solidFill>
              <a:latin typeface="Times New Roman"/>
              <a:ea typeface="Times New Roman"/>
              <a:cs typeface="Times New Roman"/>
              <a:sym typeface="Times New Roman"/>
            </a:endParaRPr>
          </a:p>
          <a:p>
            <a:pPr indent="0" lvl="0" marL="0" marR="0" rtl="0" algn="l">
              <a:lnSpc>
                <a:spcPct val="120009"/>
              </a:lnSpc>
              <a:spcBef>
                <a:spcPts val="0"/>
              </a:spcBef>
              <a:spcAft>
                <a:spcPts val="0"/>
              </a:spcAft>
              <a:buClr>
                <a:srgbClr val="000000"/>
              </a:buClr>
              <a:buSzPts val="2169"/>
              <a:buFont typeface="Arial"/>
              <a:buNone/>
            </a:pPr>
            <a:r>
              <a:t/>
            </a:r>
            <a:endParaRPr b="0" i="0" sz="2169" u="none" cap="none" strike="noStrike">
              <a:solidFill>
                <a:srgbClr val="475E6F"/>
              </a:solidFill>
              <a:latin typeface="Times New Roman"/>
              <a:ea typeface="Times New Roman"/>
              <a:cs typeface="Times New Roman"/>
              <a:sym typeface="Times New Roman"/>
            </a:endParaRPr>
          </a:p>
          <a:p>
            <a:pPr indent="0" lvl="0" marL="0" marR="0" rtl="0" algn="l">
              <a:lnSpc>
                <a:spcPct val="120009"/>
              </a:lnSpc>
              <a:spcBef>
                <a:spcPts val="0"/>
              </a:spcBef>
              <a:spcAft>
                <a:spcPts val="0"/>
              </a:spcAft>
              <a:buClr>
                <a:srgbClr val="000000"/>
              </a:buClr>
              <a:buSzPts val="3000"/>
              <a:buFont typeface="Arial"/>
              <a:buNone/>
            </a:pPr>
            <a:r>
              <a:t/>
            </a:r>
            <a:endParaRPr b="0" i="0" sz="3000" u="none" cap="none" strike="noStrike">
              <a:solidFill>
                <a:srgbClr val="475E6F"/>
              </a:solidFill>
              <a:latin typeface="Times New Roman"/>
              <a:ea typeface="Times New Roman"/>
              <a:cs typeface="Times New Roman"/>
              <a:sym typeface="Times New Roman"/>
            </a:endParaRPr>
          </a:p>
          <a:p>
            <a:pPr indent="0" lvl="0" marL="0" marR="0" rtl="0" algn="l">
              <a:lnSpc>
                <a:spcPct val="100000"/>
              </a:lnSpc>
              <a:spcBef>
                <a:spcPts val="0"/>
              </a:spcBef>
              <a:spcAft>
                <a:spcPts val="1400"/>
              </a:spcAft>
              <a:buClr>
                <a:schemeClr val="dk1"/>
              </a:buClr>
              <a:buSzPts val="1100"/>
              <a:buFont typeface="Arial"/>
              <a:buNone/>
            </a:pPr>
            <a:r>
              <a:rPr b="0" i="0" lang="en-US" sz="2000" u="none" cap="none" strike="noStrike">
                <a:solidFill>
                  <a:schemeClr val="dk1"/>
                </a:solidFill>
                <a:latin typeface="Times New Roman"/>
                <a:ea typeface="Times New Roman"/>
                <a:cs typeface="Times New Roman"/>
                <a:sym typeface="Times New Roman"/>
              </a:rPr>
              <a:t>Design of 2-Port Microstrip MIMO Antenna for Sub-6 GHz 5G Applications</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107" name="Shape 107"/>
        <p:cNvGrpSpPr/>
        <p:nvPr/>
      </p:nvGrpSpPr>
      <p:grpSpPr>
        <a:xfrm>
          <a:off x="0" y="0"/>
          <a:ext cx="0" cy="0"/>
          <a:chOff x="0" y="0"/>
          <a:chExt cx="0" cy="0"/>
        </a:xfrm>
      </p:grpSpPr>
      <p:grpSp>
        <p:nvGrpSpPr>
          <p:cNvPr id="108" name="Google Shape;108;p15"/>
          <p:cNvGrpSpPr/>
          <p:nvPr/>
        </p:nvGrpSpPr>
        <p:grpSpPr>
          <a:xfrm>
            <a:off x="230075" y="160788"/>
            <a:ext cx="9293450" cy="6916472"/>
            <a:chOff x="0" y="-28575"/>
            <a:chExt cx="3442019" cy="2561656"/>
          </a:xfrm>
        </p:grpSpPr>
        <p:sp>
          <p:nvSpPr>
            <p:cNvPr id="109" name="Google Shape;109;p15"/>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110" name="Google Shape;110;p15"/>
            <p:cNvSpPr txBox="1"/>
            <p:nvPr/>
          </p:nvSpPr>
          <p:spPr>
            <a:xfrm>
              <a:off x="0" y="-28575"/>
              <a:ext cx="3442019" cy="2561656"/>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1" name="Google Shape;111;p15"/>
          <p:cNvSpPr/>
          <p:nvPr/>
        </p:nvSpPr>
        <p:spPr>
          <a:xfrm>
            <a:off x="418854" y="409766"/>
            <a:ext cx="8915892" cy="6494445"/>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txBox="1"/>
          <p:nvPr/>
        </p:nvSpPr>
        <p:spPr>
          <a:xfrm>
            <a:off x="838094" y="712470"/>
            <a:ext cx="8077500" cy="5978700"/>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Clr>
                <a:srgbClr val="000000"/>
              </a:buClr>
              <a:buSzPts val="2400"/>
              <a:buFont typeface="Arial"/>
              <a:buNone/>
            </a:pPr>
            <a:r>
              <a:rPr b="1" i="0" lang="en-US" sz="2400" u="none" cap="none" strike="noStrike">
                <a:solidFill>
                  <a:srgbClr val="475E6F"/>
                </a:solidFill>
                <a:latin typeface="Times New Roman"/>
                <a:ea typeface="Times New Roman"/>
                <a:cs typeface="Times New Roman"/>
                <a:sym typeface="Times New Roman"/>
              </a:rPr>
              <a:t>PROBLEM STATEMENT</a:t>
            </a:r>
            <a:endParaRPr b="1" i="0" sz="2400" u="none" cap="none" strike="noStrike">
              <a:solidFill>
                <a:srgbClr val="000000"/>
              </a:solidFill>
              <a:latin typeface="Arial"/>
              <a:ea typeface="Arial"/>
              <a:cs typeface="Arial"/>
              <a:sym typeface="Arial"/>
            </a:endParaRPr>
          </a:p>
          <a:p>
            <a:pPr indent="0" lvl="0" marL="0" marR="0" rtl="0" algn="just">
              <a:lnSpc>
                <a:spcPct val="119966"/>
              </a:lnSpc>
              <a:spcBef>
                <a:spcPts val="0"/>
              </a:spcBef>
              <a:spcAft>
                <a:spcPts val="0"/>
              </a:spcAft>
              <a:buClr>
                <a:srgbClr val="000000"/>
              </a:buClr>
              <a:buSzPts val="2169"/>
              <a:buFont typeface="Arial"/>
              <a:buNone/>
            </a:pPr>
            <a:r>
              <a:t/>
            </a:r>
            <a:endParaRPr b="0" i="0" sz="2169" u="none" cap="none" strike="noStrike">
              <a:solidFill>
                <a:srgbClr val="475E6F"/>
              </a:solidFill>
              <a:latin typeface="Times New Roman"/>
              <a:ea typeface="Times New Roman"/>
              <a:cs typeface="Times New Roman"/>
              <a:sym typeface="Times New Roman"/>
            </a:endParaRPr>
          </a:p>
          <a:p>
            <a:pPr indent="-355600" lvl="0" marL="457200" marR="0" rtl="0" algn="just">
              <a:lnSpc>
                <a:spcPct val="119966"/>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Increasing demand for </a:t>
            </a:r>
            <a:r>
              <a:rPr b="1" i="0" lang="en-US" sz="2000" u="none" cap="none" strike="noStrike">
                <a:solidFill>
                  <a:schemeClr val="dk1"/>
                </a:solidFill>
                <a:latin typeface="Arial"/>
                <a:ea typeface="Arial"/>
                <a:cs typeface="Arial"/>
                <a:sym typeface="Arial"/>
              </a:rPr>
              <a:t>compact, efficient, and multiband antennas</a:t>
            </a:r>
            <a:r>
              <a:rPr b="0" i="0" lang="en-US" sz="2000" u="none" cap="none" strike="noStrike">
                <a:solidFill>
                  <a:schemeClr val="dk1"/>
                </a:solidFill>
                <a:latin typeface="Arial"/>
                <a:ea typeface="Arial"/>
                <a:cs typeface="Arial"/>
                <a:sym typeface="Arial"/>
              </a:rPr>
              <a:t> in modern high-speed wireless communication systems.</a:t>
            </a:r>
            <a:endParaRPr b="0" i="0" sz="2000" u="none" cap="none" strike="noStrike">
              <a:solidFill>
                <a:schemeClr val="dk1"/>
              </a:solidFill>
              <a:latin typeface="Arial"/>
              <a:ea typeface="Arial"/>
              <a:cs typeface="Arial"/>
              <a:sym typeface="Arial"/>
            </a:endParaRPr>
          </a:p>
          <a:p>
            <a:pPr indent="-355600" lvl="0" marL="457200" marR="0" rtl="0" algn="just">
              <a:lnSpc>
                <a:spcPct val="119966"/>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Conventional single-band antennas</a:t>
            </a:r>
            <a:r>
              <a:rPr b="0" i="0" lang="en-US" sz="2000" u="none" cap="none" strike="noStrike">
                <a:solidFill>
                  <a:schemeClr val="dk1"/>
                </a:solidFill>
                <a:latin typeface="Arial"/>
                <a:ea typeface="Arial"/>
                <a:cs typeface="Arial"/>
                <a:sym typeface="Arial"/>
              </a:rPr>
              <a:t> fail to operate efficiently across multiple bands and do not meet multi-standard communication needs.</a:t>
            </a:r>
            <a:endParaRPr b="0" i="0" sz="2000" u="none" cap="none" strike="noStrike">
              <a:solidFill>
                <a:schemeClr val="dk1"/>
              </a:solidFill>
              <a:latin typeface="Arial"/>
              <a:ea typeface="Arial"/>
              <a:cs typeface="Arial"/>
              <a:sym typeface="Arial"/>
            </a:endParaRPr>
          </a:p>
          <a:p>
            <a:pPr indent="-355600" lvl="0" marL="457200" marR="0" rtl="0" algn="just">
              <a:lnSpc>
                <a:spcPct val="119966"/>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In </a:t>
            </a:r>
            <a:r>
              <a:rPr b="1" i="0" lang="en-US" sz="2000" u="none" cap="none" strike="noStrike">
                <a:solidFill>
                  <a:schemeClr val="dk1"/>
                </a:solidFill>
                <a:latin typeface="Arial"/>
                <a:ea typeface="Arial"/>
                <a:cs typeface="Arial"/>
                <a:sym typeface="Arial"/>
              </a:rPr>
              <a:t>MIMO antenna configurations</a:t>
            </a:r>
            <a:r>
              <a:rPr b="0" i="0" lang="en-US" sz="2000" u="none" cap="none" strike="noStrike">
                <a:solidFill>
                  <a:schemeClr val="dk1"/>
                </a:solidFill>
                <a:latin typeface="Arial"/>
                <a:ea typeface="Arial"/>
                <a:cs typeface="Arial"/>
                <a:sym typeface="Arial"/>
              </a:rPr>
              <a:t>, closely spaced elements cause </a:t>
            </a:r>
            <a:r>
              <a:rPr b="1" i="0" lang="en-US" sz="2000" u="none" cap="none" strike="noStrike">
                <a:solidFill>
                  <a:schemeClr val="dk1"/>
                </a:solidFill>
                <a:latin typeface="Arial"/>
                <a:ea typeface="Arial"/>
                <a:cs typeface="Arial"/>
                <a:sym typeface="Arial"/>
              </a:rPr>
              <a:t>high mutual coupling</a:t>
            </a:r>
            <a:r>
              <a:rPr b="0" i="0" lang="en-US" sz="2000" u="none" cap="none" strike="noStrike">
                <a:solidFill>
                  <a:schemeClr val="dk1"/>
                </a:solidFill>
                <a:latin typeface="Arial"/>
                <a:ea typeface="Arial"/>
                <a:cs typeface="Arial"/>
                <a:sym typeface="Arial"/>
              </a:rPr>
              <a:t>, reducing system performance.</a:t>
            </a:r>
            <a:endParaRPr b="0" i="0" sz="2000" u="none" cap="none" strike="noStrike">
              <a:solidFill>
                <a:schemeClr val="dk1"/>
              </a:solidFill>
              <a:latin typeface="Arial"/>
              <a:ea typeface="Arial"/>
              <a:cs typeface="Arial"/>
              <a:sym typeface="Arial"/>
            </a:endParaRPr>
          </a:p>
          <a:p>
            <a:pPr indent="-355600" lvl="0" marL="457200" marR="0" rtl="0" algn="just">
              <a:lnSpc>
                <a:spcPct val="119966"/>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There is a need for a </a:t>
            </a:r>
            <a:r>
              <a:rPr b="1" i="0" lang="en-US" sz="2000" u="none" cap="none" strike="noStrike">
                <a:solidFill>
                  <a:schemeClr val="dk1"/>
                </a:solidFill>
                <a:latin typeface="Arial"/>
                <a:ea typeface="Arial"/>
                <a:cs typeface="Arial"/>
                <a:sym typeface="Arial"/>
              </a:rPr>
              <a:t>2-port microstrip MIMO antenna</a:t>
            </a:r>
            <a:r>
              <a:rPr b="0" i="0" lang="en-US" sz="2000" u="none" cap="none" strike="noStrike">
                <a:solidFill>
                  <a:schemeClr val="dk1"/>
                </a:solidFill>
                <a:latin typeface="Arial"/>
                <a:ea typeface="Arial"/>
                <a:cs typeface="Arial"/>
                <a:sym typeface="Arial"/>
              </a:rPr>
              <a:t> offering </a:t>
            </a:r>
            <a:r>
              <a:rPr b="1" i="0" lang="en-US" sz="2000" u="none" cap="none" strike="noStrike">
                <a:solidFill>
                  <a:schemeClr val="dk1"/>
                </a:solidFill>
                <a:latin typeface="Arial"/>
                <a:ea typeface="Arial"/>
                <a:cs typeface="Arial"/>
                <a:sym typeface="Arial"/>
              </a:rPr>
              <a:t>high isolation, compact size, and reliable wideband performance</a:t>
            </a:r>
            <a:r>
              <a:rPr b="0" i="0" lang="en-US" sz="2000" u="none" cap="none" strike="noStrike">
                <a:solidFill>
                  <a:schemeClr val="dk1"/>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a:p>
            <a:pPr indent="-355600" lvl="0" marL="457200" marR="0" rtl="0" algn="just">
              <a:lnSpc>
                <a:spcPct val="119966"/>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The proposed antenna design </a:t>
            </a:r>
            <a:r>
              <a:rPr lang="en-US" sz="2000">
                <a:solidFill>
                  <a:schemeClr val="dk1"/>
                </a:solidFill>
              </a:rPr>
              <a:t>is</a:t>
            </a:r>
            <a:r>
              <a:rPr b="0" i="0" lang="en-US" sz="2000" u="none" cap="none" strike="noStrike">
                <a:solidFill>
                  <a:schemeClr val="dk1"/>
                </a:solidFill>
                <a:latin typeface="Arial"/>
                <a:ea typeface="Arial"/>
                <a:cs typeface="Arial"/>
                <a:sym typeface="Arial"/>
              </a:rPr>
              <a:t> </a:t>
            </a:r>
            <a:r>
              <a:rPr b="1" i="0" lang="en-US" sz="2000" u="none" cap="none" strike="noStrike">
                <a:solidFill>
                  <a:schemeClr val="dk1"/>
                </a:solidFill>
                <a:latin typeface="Arial"/>
                <a:ea typeface="Arial"/>
                <a:cs typeface="Arial"/>
                <a:sym typeface="Arial"/>
              </a:rPr>
              <a:t>simulated and optimized using ANSYS HFSS</a:t>
            </a:r>
            <a:r>
              <a:rPr b="0" i="0" lang="en-US" sz="2000" u="none" cap="none" strike="noStrike">
                <a:solidFill>
                  <a:schemeClr val="dk1"/>
                </a:solidFill>
                <a:latin typeface="Arial"/>
                <a:ea typeface="Arial"/>
                <a:cs typeface="Arial"/>
                <a:sym typeface="Arial"/>
              </a:rPr>
              <a:t> to enhance bandwidth, isolation, and radiation characteristics.</a:t>
            </a:r>
            <a:endParaRPr b="0" i="0" sz="2000" u="none" cap="none" strike="noStrike">
              <a:solidFill>
                <a:schemeClr val="dk1"/>
              </a:solidFill>
              <a:latin typeface="Arial"/>
              <a:ea typeface="Arial"/>
              <a:cs typeface="Arial"/>
              <a:sym typeface="Arial"/>
            </a:endParaRPr>
          </a:p>
          <a:p>
            <a:pPr indent="0" lvl="0" marL="0" marR="0" rtl="0" algn="just">
              <a:lnSpc>
                <a:spcPct val="119966"/>
              </a:lnSpc>
              <a:spcBef>
                <a:spcPts val="0"/>
              </a:spcBef>
              <a:spcAft>
                <a:spcPts val="0"/>
              </a:spcAft>
              <a:buClr>
                <a:srgbClr val="000000"/>
              </a:buClr>
              <a:buSzPts val="2169"/>
              <a:buFont typeface="Arial"/>
              <a:buNone/>
            </a:pPr>
            <a:r>
              <a:t/>
            </a:r>
            <a:endParaRPr b="0" i="0" sz="2169" u="none" cap="none" strike="noStrike">
              <a:solidFill>
                <a:srgbClr val="475E6F"/>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116" name="Shape 116"/>
        <p:cNvGrpSpPr/>
        <p:nvPr/>
      </p:nvGrpSpPr>
      <p:grpSpPr>
        <a:xfrm>
          <a:off x="0" y="0"/>
          <a:ext cx="0" cy="0"/>
          <a:chOff x="0" y="0"/>
          <a:chExt cx="0" cy="0"/>
        </a:xfrm>
      </p:grpSpPr>
      <p:grpSp>
        <p:nvGrpSpPr>
          <p:cNvPr id="117" name="Google Shape;117;p16"/>
          <p:cNvGrpSpPr/>
          <p:nvPr/>
        </p:nvGrpSpPr>
        <p:grpSpPr>
          <a:xfrm>
            <a:off x="230075" y="160788"/>
            <a:ext cx="9293450" cy="6916472"/>
            <a:chOff x="0" y="-28575"/>
            <a:chExt cx="3442019" cy="2561656"/>
          </a:xfrm>
        </p:grpSpPr>
        <p:sp>
          <p:nvSpPr>
            <p:cNvPr id="118" name="Google Shape;118;p16"/>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119" name="Google Shape;119;p16"/>
            <p:cNvSpPr txBox="1"/>
            <p:nvPr/>
          </p:nvSpPr>
          <p:spPr>
            <a:xfrm>
              <a:off x="0" y="-28575"/>
              <a:ext cx="3442019" cy="2561656"/>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0" name="Google Shape;120;p16"/>
          <p:cNvSpPr/>
          <p:nvPr/>
        </p:nvSpPr>
        <p:spPr>
          <a:xfrm>
            <a:off x="418854" y="409766"/>
            <a:ext cx="8915892" cy="6494445"/>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6"/>
          <p:cNvSpPr txBox="1"/>
          <p:nvPr/>
        </p:nvSpPr>
        <p:spPr>
          <a:xfrm>
            <a:off x="651600" y="576262"/>
            <a:ext cx="8450400" cy="6579900"/>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Clr>
                <a:srgbClr val="000000"/>
              </a:buClr>
              <a:buSzPts val="2429"/>
              <a:buFont typeface="Arial"/>
              <a:buNone/>
            </a:pPr>
            <a:r>
              <a:rPr b="1" i="0" lang="en-US" sz="2429" u="none" cap="none" strike="noStrike">
                <a:solidFill>
                  <a:srgbClr val="475E6F"/>
                </a:solidFill>
                <a:latin typeface="Times New Roman"/>
                <a:ea typeface="Times New Roman"/>
                <a:cs typeface="Times New Roman"/>
                <a:sym typeface="Times New Roman"/>
              </a:rPr>
              <a:t>LITERATURE SURVEY</a:t>
            </a:r>
            <a:endParaRPr b="1" i="0" sz="1700" u="none" cap="none" strike="noStrike">
              <a:solidFill>
                <a:srgbClr val="000000"/>
              </a:solidFill>
              <a:latin typeface="Arial"/>
              <a:ea typeface="Arial"/>
              <a:cs typeface="Arial"/>
              <a:sym typeface="Arial"/>
            </a:endParaRPr>
          </a:p>
          <a:p>
            <a:pPr indent="0" lvl="0" marL="0" marR="0" rtl="0" algn="just">
              <a:lnSpc>
                <a:spcPct val="120713"/>
              </a:lnSpc>
              <a:spcBef>
                <a:spcPts val="0"/>
              </a:spcBef>
              <a:spcAft>
                <a:spcPts val="0"/>
              </a:spcAft>
              <a:buClr>
                <a:srgbClr val="000000"/>
              </a:buClr>
              <a:buSzPts val="2129"/>
              <a:buFont typeface="Arial"/>
              <a:buNone/>
            </a:pPr>
            <a:r>
              <a:t/>
            </a:r>
            <a:endParaRPr b="0" i="0" sz="2129" u="none" cap="none" strike="noStrike">
              <a:solidFill>
                <a:srgbClr val="475E6F"/>
              </a:solidFill>
              <a:latin typeface="Times New Roman"/>
              <a:ea typeface="Times New Roman"/>
              <a:cs typeface="Times New Roman"/>
              <a:sym typeface="Times New Roman"/>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rgbClr val="000000"/>
                </a:solidFill>
                <a:latin typeface="Times New Roman"/>
                <a:ea typeface="Times New Roman"/>
                <a:cs typeface="Times New Roman"/>
                <a:sym typeface="Times New Roman"/>
              </a:rPr>
              <a:t>The evolution of MIMO (Multiple Input Multiple Output) antenna systems has played a critical role in improving wireless channel capacity and reliability. Several research works have contributed to the development of multiband and compact MIMO antennas suitable for modern communication standards such as 4G, 5G, Wi-Fi, and WiMAX. The following review summarises relevant research contributions and identifies the research gaps that this project aims to address.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50"/>
              <a:buFont typeface="Arial"/>
              <a:buNone/>
            </a:pPr>
            <a:r>
              <a:t/>
            </a:r>
            <a:endParaRPr b="0" i="0" sz="1250" u="none" cap="none" strike="noStrike">
              <a:solidFill>
                <a:schemeClr val="dk1"/>
              </a:solidFill>
              <a:latin typeface="Times New Roman"/>
              <a:ea typeface="Times New Roman"/>
              <a:cs typeface="Times New Roman"/>
              <a:sym typeface="Times New Roman"/>
            </a:endParaRPr>
          </a:p>
          <a:p>
            <a:pPr indent="-172720" lvl="1" marL="345439" marR="0" rtl="0" algn="just">
              <a:lnSpc>
                <a:spcPct val="120012"/>
              </a:lnSpc>
              <a:spcBef>
                <a:spcPts val="0"/>
              </a:spcBef>
              <a:spcAft>
                <a:spcPts val="0"/>
              </a:spcAft>
              <a:buClr>
                <a:srgbClr val="000000"/>
              </a:buClr>
              <a:buSzPts val="1599"/>
              <a:buFont typeface="Times New Roman"/>
              <a:buAutoNum type="arabicPeriod"/>
            </a:pPr>
            <a:r>
              <a:rPr b="0" i="0" lang="en-US" sz="1550" u="none" cap="none" strike="noStrike">
                <a:solidFill>
                  <a:schemeClr val="dk1"/>
                </a:solidFill>
                <a:latin typeface="Times New Roman"/>
                <a:ea typeface="Times New Roman"/>
                <a:cs typeface="Times New Roman"/>
                <a:sym typeface="Times New Roman"/>
              </a:rPr>
              <a:t>Ahmed, H.; Ameen, A.M.; </a:t>
            </a:r>
            <a:r>
              <a:rPr b="0" i="0" lang="en-US" sz="1500" u="none" cap="none" strike="noStrike">
                <a:solidFill>
                  <a:schemeClr val="dk1"/>
                </a:solidFill>
                <a:latin typeface="Times New Roman"/>
                <a:ea typeface="Times New Roman"/>
                <a:cs typeface="Times New Roman"/>
                <a:sym typeface="Times New Roman"/>
              </a:rPr>
              <a:t>Magdy, A.; Nasser, A.; Abo-Zahhad, M. </a:t>
            </a:r>
            <a:r>
              <a:rPr b="0" i="0" lang="en-US" sz="1550" u="none" cap="none" strike="noStrike">
                <a:solidFill>
                  <a:schemeClr val="dk1"/>
                </a:solidFill>
                <a:latin typeface="Times New Roman"/>
                <a:ea typeface="Times New Roman"/>
                <a:cs typeface="Times New Roman"/>
                <a:sym typeface="Times New Roman"/>
              </a:rPr>
              <a:t>A Sub-6GHz Two-Port Crescent MIMO Array Antenna for 5G Applications. Electronics 2025, 14, 411. </a:t>
            </a:r>
            <a:r>
              <a:rPr b="0" i="0" lang="en-US" sz="1550" u="sng" cap="none" strike="noStrike">
                <a:solidFill>
                  <a:schemeClr val="hlink"/>
                </a:solidFill>
                <a:latin typeface="Times New Roman"/>
                <a:ea typeface="Times New Roman"/>
                <a:cs typeface="Times New Roman"/>
                <a:sym typeface="Times New Roman"/>
                <a:hlinkClick r:id="rId3"/>
              </a:rPr>
              <a:t>https://doi.org/10.3390/</a:t>
            </a:r>
            <a:r>
              <a:rPr b="0" i="0" lang="en-US" sz="1550" u="none" cap="none" strike="noStrike">
                <a:solidFill>
                  <a:schemeClr val="dk1"/>
                </a:solidFill>
                <a:latin typeface="Times New Roman"/>
                <a:ea typeface="Times New Roman"/>
                <a:cs typeface="Times New Roman"/>
                <a:sym typeface="Times New Roman"/>
              </a:rPr>
              <a:t> electronics14030411</a:t>
            </a:r>
            <a:endParaRPr b="0" i="0" sz="1899" u="none" cap="none" strike="noStrike">
              <a:solidFill>
                <a:srgbClr val="000000"/>
              </a:solidFill>
              <a:latin typeface="Times New Roman"/>
              <a:ea typeface="Times New Roman"/>
              <a:cs typeface="Times New Roman"/>
              <a:sym typeface="Times New Roman"/>
            </a:endParaRPr>
          </a:p>
          <a:p>
            <a:pPr indent="-172720" lvl="1" marL="345439" marR="0" rtl="0" algn="just">
              <a:lnSpc>
                <a:spcPct val="120012"/>
              </a:lnSpc>
              <a:spcBef>
                <a:spcPts val="0"/>
              </a:spcBef>
              <a:spcAft>
                <a:spcPts val="0"/>
              </a:spcAft>
              <a:buClr>
                <a:srgbClr val="000000"/>
              </a:buClr>
              <a:buSzPts val="1599"/>
              <a:buFont typeface="Times New Roman"/>
              <a:buAutoNum type="arabicPeriod"/>
            </a:pPr>
            <a:r>
              <a:rPr b="0" i="0" lang="en-US" sz="1599" u="none" cap="none" strike="noStrike">
                <a:solidFill>
                  <a:srgbClr val="000000"/>
                </a:solidFill>
                <a:latin typeface="Times New Roman"/>
                <a:ea typeface="Times New Roman"/>
                <a:cs typeface="Times New Roman"/>
                <a:sym typeface="Times New Roman"/>
              </a:rPr>
              <a:t>P. Singh et al. (IEEE, 2022) developed a compact MIMO antenna with dual-band operation at 3.5 GHz and 5.8 GHz using a slotted patch design. The study demonstrated that introducing complementary split ring resonators (CSRR) significantly improved isolation and multiband operation without enlarging the antenna size.</a:t>
            </a:r>
            <a:endParaRPr b="0" i="0" sz="1400" u="none" cap="none" strike="noStrike">
              <a:solidFill>
                <a:srgbClr val="000000"/>
              </a:solidFill>
              <a:latin typeface="Arial"/>
              <a:ea typeface="Arial"/>
              <a:cs typeface="Arial"/>
              <a:sym typeface="Arial"/>
            </a:endParaRPr>
          </a:p>
          <a:p>
            <a:pPr indent="-172720" lvl="1" marL="345439" marR="0" rtl="0" algn="just">
              <a:lnSpc>
                <a:spcPct val="120012"/>
              </a:lnSpc>
              <a:spcBef>
                <a:spcPts val="0"/>
              </a:spcBef>
              <a:spcAft>
                <a:spcPts val="0"/>
              </a:spcAft>
              <a:buClr>
                <a:srgbClr val="000000"/>
              </a:buClr>
              <a:buSzPts val="1599"/>
              <a:buFont typeface="Times New Roman"/>
              <a:buAutoNum type="arabicPeriod"/>
            </a:pPr>
            <a:r>
              <a:rPr b="0" i="0" lang="en-US" sz="1599" u="none" cap="none" strike="noStrike">
                <a:solidFill>
                  <a:srgbClr val="000000"/>
                </a:solidFill>
                <a:latin typeface="Times New Roman"/>
                <a:ea typeface="Times New Roman"/>
                <a:cs typeface="Times New Roman"/>
                <a:sym typeface="Times New Roman"/>
              </a:rPr>
              <a:t> R. Sharma et al. (IEEE Access, 2021) proposed a two-port antenna with a defected ground structure (DGS), which effectively suppressed surface currents leading to an isolation improvement of over 25 dB. The paper highlighted that DGS-based approaches can achieve superior performance with minimal complexity.</a:t>
            </a:r>
            <a:endParaRPr b="0" i="0" sz="1400" u="none" cap="none" strike="noStrike">
              <a:solidFill>
                <a:srgbClr val="000000"/>
              </a:solidFill>
              <a:latin typeface="Arial"/>
              <a:ea typeface="Arial"/>
              <a:cs typeface="Arial"/>
              <a:sym typeface="Arial"/>
            </a:endParaRPr>
          </a:p>
          <a:p>
            <a:pPr indent="-172720" lvl="1" marL="345439" marR="0" rtl="0" algn="just">
              <a:lnSpc>
                <a:spcPct val="120012"/>
              </a:lnSpc>
              <a:spcBef>
                <a:spcPts val="0"/>
              </a:spcBef>
              <a:spcAft>
                <a:spcPts val="0"/>
              </a:spcAft>
              <a:buClr>
                <a:srgbClr val="000000"/>
              </a:buClr>
              <a:buSzPts val="1599"/>
              <a:buFont typeface="Times New Roman"/>
              <a:buAutoNum type="arabicPeriod"/>
            </a:pPr>
            <a:r>
              <a:rPr b="0" i="0" lang="en-US" sz="1599" u="none" cap="none" strike="noStrike">
                <a:solidFill>
                  <a:srgbClr val="000000"/>
                </a:solidFill>
                <a:latin typeface="Times New Roman"/>
                <a:ea typeface="Times New Roman"/>
                <a:cs typeface="Times New Roman"/>
                <a:sym typeface="Times New Roman"/>
              </a:rPr>
              <a:t> H. Pandey et al. (Microwave and Optical Tech. Letters, 2021) proposed a MIMO antenna with a compact ground-slot configuration suitable for IoT and vehicular communication.</a:t>
            </a:r>
            <a:endParaRPr b="0" i="0" sz="1400" u="none" cap="none" strike="noStrike">
              <a:solidFill>
                <a:srgbClr val="000000"/>
              </a:solidFill>
              <a:latin typeface="Arial"/>
              <a:ea typeface="Arial"/>
              <a:cs typeface="Arial"/>
              <a:sym typeface="Arial"/>
            </a:endParaRPr>
          </a:p>
          <a:p>
            <a:pPr indent="0" lvl="0" marL="914400" marR="0" rtl="0" algn="just">
              <a:lnSpc>
                <a:spcPct val="120012"/>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125" name="Shape 125"/>
        <p:cNvGrpSpPr/>
        <p:nvPr/>
      </p:nvGrpSpPr>
      <p:grpSpPr>
        <a:xfrm>
          <a:off x="0" y="0"/>
          <a:ext cx="0" cy="0"/>
          <a:chOff x="0" y="0"/>
          <a:chExt cx="0" cy="0"/>
        </a:xfrm>
      </p:grpSpPr>
      <p:grpSp>
        <p:nvGrpSpPr>
          <p:cNvPr id="126" name="Google Shape;126;p17"/>
          <p:cNvGrpSpPr/>
          <p:nvPr/>
        </p:nvGrpSpPr>
        <p:grpSpPr>
          <a:xfrm>
            <a:off x="230075" y="160788"/>
            <a:ext cx="9293450" cy="6916472"/>
            <a:chOff x="0" y="-28575"/>
            <a:chExt cx="3442019" cy="2561656"/>
          </a:xfrm>
        </p:grpSpPr>
        <p:sp>
          <p:nvSpPr>
            <p:cNvPr id="127" name="Google Shape;127;p17"/>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128" name="Google Shape;128;p17"/>
            <p:cNvSpPr txBox="1"/>
            <p:nvPr/>
          </p:nvSpPr>
          <p:spPr>
            <a:xfrm>
              <a:off x="0" y="-28575"/>
              <a:ext cx="3442019" cy="2561656"/>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9" name="Google Shape;129;p17"/>
          <p:cNvSpPr/>
          <p:nvPr/>
        </p:nvSpPr>
        <p:spPr>
          <a:xfrm>
            <a:off x="418854" y="409766"/>
            <a:ext cx="8915892" cy="6494445"/>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7"/>
          <p:cNvSpPr txBox="1"/>
          <p:nvPr/>
        </p:nvSpPr>
        <p:spPr>
          <a:xfrm>
            <a:off x="651600" y="712470"/>
            <a:ext cx="8450400" cy="4676700"/>
          </a:xfrm>
          <a:prstGeom prst="rect">
            <a:avLst/>
          </a:prstGeom>
          <a:noFill/>
          <a:ln>
            <a:noFill/>
          </a:ln>
        </p:spPr>
        <p:txBody>
          <a:bodyPr anchorCtr="0" anchor="t" bIns="0" lIns="0" spcFirstLastPara="1" rIns="0" wrap="square" tIns="0">
            <a:spAutoFit/>
          </a:bodyPr>
          <a:lstStyle/>
          <a:p>
            <a:pPr indent="0" lvl="0" marL="0" marR="0" rtl="0" algn="just">
              <a:lnSpc>
                <a:spcPct val="120012"/>
              </a:lnSpc>
              <a:spcBef>
                <a:spcPts val="0"/>
              </a:spcBef>
              <a:spcAft>
                <a:spcPts val="0"/>
              </a:spcAft>
              <a:buClr>
                <a:srgbClr val="000000"/>
              </a:buClr>
              <a:buSzPts val="1599"/>
              <a:buFont typeface="Arial"/>
              <a:buNone/>
            </a:pPr>
            <a:r>
              <a:t/>
            </a:r>
            <a:endParaRPr b="0" i="0" sz="1599" u="none" cap="none" strike="noStrike">
              <a:solidFill>
                <a:schemeClr val="dk1"/>
              </a:solidFill>
              <a:latin typeface="Times New Roman"/>
              <a:ea typeface="Times New Roman"/>
              <a:cs typeface="Times New Roman"/>
              <a:sym typeface="Times New Roman"/>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chemeClr val="dk1"/>
                </a:solidFill>
                <a:latin typeface="Times New Roman"/>
                <a:ea typeface="Times New Roman"/>
                <a:cs typeface="Times New Roman"/>
                <a:sym typeface="Times New Roman"/>
              </a:rPr>
              <a:t>4. M. Kumar et al. (IET Microwaves, 2020) designed a circular patch-based multiband antenna that</a:t>
            </a:r>
            <a:endParaRPr b="0" i="0" sz="1599" u="none" cap="none" strike="noStrike">
              <a:solidFill>
                <a:schemeClr val="dk1"/>
              </a:solidFill>
              <a:latin typeface="Times New Roman"/>
              <a:ea typeface="Times New Roman"/>
              <a:cs typeface="Times New Roman"/>
              <a:sym typeface="Times New Roman"/>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chemeClr val="dk1"/>
                </a:solidFill>
                <a:latin typeface="Times New Roman"/>
                <a:ea typeface="Times New Roman"/>
                <a:cs typeface="Times New Roman"/>
                <a:sym typeface="Times New Roman"/>
              </a:rPr>
              <a:t>    achieved stable radiation characteristics for WiMAX and WLAN bands. The design utilised slot</a:t>
            </a:r>
            <a:endParaRPr b="0" i="0" sz="1599" u="none" cap="none" strike="noStrike">
              <a:solidFill>
                <a:schemeClr val="dk1"/>
              </a:solidFill>
              <a:latin typeface="Times New Roman"/>
              <a:ea typeface="Times New Roman"/>
              <a:cs typeface="Times New Roman"/>
              <a:sym typeface="Times New Roman"/>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chemeClr val="dk1"/>
                </a:solidFill>
                <a:latin typeface="Times New Roman"/>
                <a:ea typeface="Times New Roman"/>
                <a:cs typeface="Times New Roman"/>
                <a:sym typeface="Times New Roman"/>
              </a:rPr>
              <a:t>  etching techniques and dielectric optimisation to maintain return loss below -20 dB across both bands.</a:t>
            </a:r>
            <a:endParaRPr b="0" i="0" sz="1400" u="none" cap="none" strike="noStrike">
              <a:solidFill>
                <a:schemeClr val="dk1"/>
              </a:solidFill>
              <a:latin typeface="Arial"/>
              <a:ea typeface="Arial"/>
              <a:cs typeface="Arial"/>
              <a:sym typeface="Arial"/>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chemeClr val="dk1"/>
                </a:solidFill>
                <a:latin typeface="Times New Roman"/>
                <a:ea typeface="Times New Roman"/>
                <a:cs typeface="Times New Roman"/>
                <a:sym typeface="Times New Roman"/>
              </a:rPr>
              <a:t>5. A. Yadav et al. (IJAREEIE, 2020) presented a triple-band microstrip antenna incorporating parasitic</a:t>
            </a:r>
            <a:endParaRPr b="0" i="0" sz="1599" u="none" cap="none" strike="noStrike">
              <a:solidFill>
                <a:schemeClr val="dk1"/>
              </a:solidFill>
              <a:latin typeface="Times New Roman"/>
              <a:ea typeface="Times New Roman"/>
              <a:cs typeface="Times New Roman"/>
              <a:sym typeface="Times New Roman"/>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chemeClr val="dk1"/>
                </a:solidFill>
                <a:latin typeface="Times New Roman"/>
                <a:ea typeface="Times New Roman"/>
                <a:cs typeface="Times New Roman"/>
                <a:sym typeface="Times New Roman"/>
              </a:rPr>
              <a:t>    coupling, demonstrating how structural symmetry influences polarisation and impedance bandwidth.</a:t>
            </a:r>
            <a:endParaRPr b="0" i="0" sz="1800" u="none" cap="none" strike="noStrike">
              <a:solidFill>
                <a:schemeClr val="dk1"/>
              </a:solidFill>
              <a:latin typeface="Calibri"/>
              <a:ea typeface="Calibri"/>
              <a:cs typeface="Calibri"/>
              <a:sym typeface="Calibri"/>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rgbClr val="000000"/>
                </a:solidFill>
                <a:latin typeface="Times New Roman"/>
                <a:ea typeface="Times New Roman"/>
                <a:cs typeface="Times New Roman"/>
                <a:sym typeface="Times New Roman"/>
              </a:rPr>
              <a:t>6. B. Gupta et al. (IEEE Antennas &amp; Propagation, 2019) explored multiple decoupling techniques,</a:t>
            </a:r>
            <a:endParaRPr b="0" i="0" sz="1599" u="none" cap="none" strike="noStrike">
              <a:solidFill>
                <a:srgbClr val="000000"/>
              </a:solidFill>
              <a:latin typeface="Times New Roman"/>
              <a:ea typeface="Times New Roman"/>
              <a:cs typeface="Times New Roman"/>
              <a:sym typeface="Times New Roman"/>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rgbClr val="000000"/>
                </a:solidFill>
                <a:latin typeface="Times New Roman"/>
                <a:ea typeface="Times New Roman"/>
                <a:cs typeface="Times New Roman"/>
                <a:sym typeface="Times New Roman"/>
              </a:rPr>
              <a:t>    including neutralisation lines and electromagnetic band-gap (EBG) structures, achieving enhanced</a:t>
            </a:r>
            <a:endParaRPr b="0" i="0" sz="1599" u="none" cap="none" strike="noStrike">
              <a:solidFill>
                <a:srgbClr val="000000"/>
              </a:solidFill>
              <a:latin typeface="Times New Roman"/>
              <a:ea typeface="Times New Roman"/>
              <a:cs typeface="Times New Roman"/>
              <a:sym typeface="Times New Roman"/>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rgbClr val="000000"/>
                </a:solidFill>
                <a:latin typeface="Times New Roman"/>
                <a:ea typeface="Times New Roman"/>
                <a:cs typeface="Times New Roman"/>
                <a:sym typeface="Times New Roman"/>
              </a:rPr>
              <a:t>    diversity gain.</a:t>
            </a:r>
            <a:endParaRPr b="0" i="0" sz="1400" u="none" cap="none" strike="noStrike">
              <a:solidFill>
                <a:srgbClr val="000000"/>
              </a:solidFill>
              <a:latin typeface="Arial"/>
              <a:ea typeface="Arial"/>
              <a:cs typeface="Arial"/>
              <a:sym typeface="Arial"/>
            </a:endParaRPr>
          </a:p>
          <a:p>
            <a:pPr indent="0" lvl="0" marL="0" marR="0" rtl="0" algn="just">
              <a:lnSpc>
                <a:spcPct val="120012"/>
              </a:lnSpc>
              <a:spcBef>
                <a:spcPts val="0"/>
              </a:spcBef>
              <a:spcAft>
                <a:spcPts val="0"/>
              </a:spcAft>
              <a:buClr>
                <a:srgbClr val="000000"/>
              </a:buClr>
              <a:buSzPts val="1599"/>
              <a:buFont typeface="Arial"/>
              <a:buNone/>
            </a:pPr>
            <a:r>
              <a:t/>
            </a:r>
            <a:endParaRPr b="0" i="0" sz="1599" u="none" cap="none" strike="noStrike">
              <a:solidFill>
                <a:srgbClr val="000000"/>
              </a:solidFill>
              <a:latin typeface="Times New Roman"/>
              <a:ea typeface="Times New Roman"/>
              <a:cs typeface="Times New Roman"/>
              <a:sym typeface="Times New Roman"/>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rgbClr val="000000"/>
                </a:solidFill>
                <a:latin typeface="Times New Roman"/>
                <a:ea typeface="Times New Roman"/>
                <a:cs typeface="Times New Roman"/>
                <a:sym typeface="Times New Roman"/>
              </a:rPr>
              <a:t>These studies collectively indicate that hybrid approaches using DGS, slots, and decoupling networks offer the most promising performance for multiband applications.</a:t>
            </a:r>
            <a:endParaRPr b="0" i="0" sz="1400" u="none" cap="none" strike="noStrike">
              <a:solidFill>
                <a:srgbClr val="000000"/>
              </a:solidFill>
              <a:latin typeface="Arial"/>
              <a:ea typeface="Arial"/>
              <a:cs typeface="Arial"/>
              <a:sym typeface="Arial"/>
            </a:endParaRPr>
          </a:p>
          <a:p>
            <a:pPr indent="0" lvl="0" marL="0" marR="0" rtl="0" algn="just">
              <a:lnSpc>
                <a:spcPct val="120012"/>
              </a:lnSpc>
              <a:spcBef>
                <a:spcPts val="0"/>
              </a:spcBef>
              <a:spcAft>
                <a:spcPts val="0"/>
              </a:spcAft>
              <a:buClr>
                <a:srgbClr val="000000"/>
              </a:buClr>
              <a:buSzPts val="1599"/>
              <a:buFont typeface="Arial"/>
              <a:buNone/>
            </a:pPr>
            <a:r>
              <a:rPr b="0" i="0" lang="en-US" sz="1599" u="none" cap="none" strike="noStrike">
                <a:solidFill>
                  <a:srgbClr val="000000"/>
                </a:solidFill>
                <a:latin typeface="Times New Roman"/>
                <a:ea typeface="Times New Roman"/>
                <a:cs typeface="Times New Roman"/>
                <a:sym typeface="Times New Roman"/>
              </a:rPr>
              <a:t>Based on this literature, our project focuses on combining slot modification and optimized feed structure techniques in HFSS simulation to achieve performance </a:t>
            </a:r>
            <a:r>
              <a:rPr lang="en-US" sz="1599">
                <a:latin typeface="Times New Roman"/>
                <a:ea typeface="Times New Roman"/>
                <a:cs typeface="Times New Roman"/>
                <a:sym typeface="Times New Roman"/>
              </a:rPr>
              <a:t>between 3.2 GHz to</a:t>
            </a:r>
            <a:r>
              <a:rPr b="0" i="0" lang="en-US" sz="1599" u="none" cap="none" strike="noStrike">
                <a:solidFill>
                  <a:srgbClr val="000000"/>
                </a:solidFill>
                <a:latin typeface="Times New Roman"/>
                <a:ea typeface="Times New Roman"/>
                <a:cs typeface="Times New Roman"/>
                <a:sym typeface="Times New Roman"/>
              </a:rPr>
              <a:t> </a:t>
            </a:r>
            <a:r>
              <a:rPr lang="en-US" sz="1599">
                <a:latin typeface="Times New Roman"/>
                <a:ea typeface="Times New Roman"/>
                <a:cs typeface="Times New Roman"/>
                <a:sym typeface="Times New Roman"/>
              </a:rPr>
              <a:t>6</a:t>
            </a:r>
            <a:r>
              <a:rPr b="0" i="0" lang="en-US" sz="1599" u="none" cap="none" strike="noStrike">
                <a:solidFill>
                  <a:srgbClr val="000000"/>
                </a:solidFill>
                <a:latin typeface="Times New Roman"/>
                <a:ea typeface="Times New Roman"/>
                <a:cs typeface="Times New Roman"/>
                <a:sym typeface="Times New Roman"/>
              </a:rPr>
              <a:t> GHz. The design aims to minimize mutual coupling (&lt; -20 dB) while maintaining high gain and compactness suitable for next-generation communication systems.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134" name="Shape 134"/>
        <p:cNvGrpSpPr/>
        <p:nvPr/>
      </p:nvGrpSpPr>
      <p:grpSpPr>
        <a:xfrm>
          <a:off x="0" y="0"/>
          <a:ext cx="0" cy="0"/>
          <a:chOff x="0" y="0"/>
          <a:chExt cx="0" cy="0"/>
        </a:xfrm>
      </p:grpSpPr>
      <p:grpSp>
        <p:nvGrpSpPr>
          <p:cNvPr id="135" name="Google Shape;135;p18"/>
          <p:cNvGrpSpPr/>
          <p:nvPr/>
        </p:nvGrpSpPr>
        <p:grpSpPr>
          <a:xfrm>
            <a:off x="230075" y="160788"/>
            <a:ext cx="9293450" cy="6916472"/>
            <a:chOff x="0" y="-28575"/>
            <a:chExt cx="3442019" cy="2561656"/>
          </a:xfrm>
        </p:grpSpPr>
        <p:sp>
          <p:nvSpPr>
            <p:cNvPr id="136" name="Google Shape;136;p18"/>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137" name="Google Shape;137;p18"/>
            <p:cNvSpPr txBox="1"/>
            <p:nvPr/>
          </p:nvSpPr>
          <p:spPr>
            <a:xfrm>
              <a:off x="0" y="-28575"/>
              <a:ext cx="3442019" cy="2561656"/>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8" name="Google Shape;138;p18"/>
          <p:cNvSpPr/>
          <p:nvPr/>
        </p:nvSpPr>
        <p:spPr>
          <a:xfrm>
            <a:off x="418854" y="409766"/>
            <a:ext cx="8915892" cy="6494445"/>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8"/>
          <p:cNvSpPr txBox="1"/>
          <p:nvPr/>
        </p:nvSpPr>
        <p:spPr>
          <a:xfrm>
            <a:off x="651600" y="712470"/>
            <a:ext cx="8450400" cy="5308500"/>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Clr>
                <a:srgbClr val="000000"/>
              </a:buClr>
              <a:buSzPts val="2429"/>
              <a:buFont typeface="Arial"/>
              <a:buNone/>
            </a:pPr>
            <a:r>
              <a:rPr b="1" i="0" lang="en-US" sz="2429" u="none" cap="none" strike="noStrike">
                <a:solidFill>
                  <a:srgbClr val="475E6F"/>
                </a:solidFill>
                <a:latin typeface="Times New Roman"/>
                <a:ea typeface="Times New Roman"/>
                <a:cs typeface="Times New Roman"/>
                <a:sym typeface="Times New Roman"/>
              </a:rPr>
              <a:t>OBJECTIVES OF THE PROJECT</a:t>
            </a:r>
            <a:endParaRPr b="1" i="0" sz="1700" u="none" cap="none" strike="noStrike">
              <a:solidFill>
                <a:srgbClr val="000000"/>
              </a:solidFill>
              <a:latin typeface="Arial"/>
              <a:ea typeface="Arial"/>
              <a:cs typeface="Arial"/>
              <a:sym typeface="Arial"/>
            </a:endParaRPr>
          </a:p>
          <a:p>
            <a:pPr indent="0" lvl="0" marL="0" marR="0" rtl="0" algn="just">
              <a:lnSpc>
                <a:spcPct val="120713"/>
              </a:lnSpc>
              <a:spcBef>
                <a:spcPts val="0"/>
              </a:spcBef>
              <a:spcAft>
                <a:spcPts val="0"/>
              </a:spcAft>
              <a:buClr>
                <a:srgbClr val="000000"/>
              </a:buClr>
              <a:buSzPts val="2129"/>
              <a:buFont typeface="Arial"/>
              <a:buNone/>
            </a:pPr>
            <a:r>
              <a:t/>
            </a:r>
            <a:endParaRPr b="0" i="0" sz="2129" u="none" cap="none" strike="noStrike">
              <a:solidFill>
                <a:srgbClr val="475E6F"/>
              </a:solidFill>
              <a:latin typeface="Times New Roman"/>
              <a:ea typeface="Times New Roman"/>
              <a:cs typeface="Times New Roman"/>
              <a:sym typeface="Times New Roman"/>
            </a:endParaRPr>
          </a:p>
          <a:p>
            <a:pPr indent="0" lvl="0" marL="0" marR="0" rtl="0" algn="just">
              <a:lnSpc>
                <a:spcPct val="120011"/>
              </a:lnSpc>
              <a:spcBef>
                <a:spcPts val="0"/>
              </a:spcBef>
              <a:spcAft>
                <a:spcPts val="0"/>
              </a:spcAft>
              <a:buClr>
                <a:srgbClr val="000000"/>
              </a:buClr>
              <a:buSzPts val="1774"/>
              <a:buFont typeface="Arial"/>
              <a:buNone/>
            </a:pPr>
            <a:r>
              <a:rPr b="0" i="0" lang="en-US" sz="1774" u="none" cap="none" strike="noStrike">
                <a:solidFill>
                  <a:srgbClr val="000000"/>
                </a:solidFill>
                <a:latin typeface="Times New Roman"/>
                <a:ea typeface="Times New Roman"/>
                <a:cs typeface="Times New Roman"/>
                <a:sym typeface="Times New Roman"/>
              </a:rPr>
              <a:t>The objectives of the proposed project are both analytical and application-oriented, focusing on simulation-based performance optimisation. The following goals define the measurable deliverables and outcomes:</a:t>
            </a:r>
            <a:endParaRPr b="0" i="0" sz="1400" u="none" cap="none" strike="noStrike">
              <a:solidFill>
                <a:srgbClr val="000000"/>
              </a:solidFill>
              <a:latin typeface="Arial"/>
              <a:ea typeface="Arial"/>
              <a:cs typeface="Arial"/>
              <a:sym typeface="Arial"/>
            </a:endParaRPr>
          </a:p>
          <a:p>
            <a:pPr indent="0" lvl="0" marL="0" marR="0" rtl="0" algn="just">
              <a:lnSpc>
                <a:spcPct val="120011"/>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191573" lvl="1" marL="383145" marR="0" rtl="0" algn="just">
              <a:lnSpc>
                <a:spcPct val="120011"/>
              </a:lnSpc>
              <a:spcBef>
                <a:spcPts val="0"/>
              </a:spcBef>
              <a:spcAft>
                <a:spcPts val="0"/>
              </a:spcAft>
              <a:buClr>
                <a:srgbClr val="000000"/>
              </a:buClr>
              <a:buSzPts val="1774"/>
              <a:buFont typeface="Arial"/>
              <a:buChar char="•"/>
            </a:pPr>
            <a:r>
              <a:rPr b="0" i="0" lang="en-US" sz="1774" u="none" cap="none" strike="noStrike">
                <a:solidFill>
                  <a:srgbClr val="000000"/>
                </a:solidFill>
                <a:latin typeface="Times New Roman"/>
                <a:ea typeface="Times New Roman"/>
                <a:cs typeface="Times New Roman"/>
                <a:sym typeface="Times New Roman"/>
              </a:rPr>
              <a:t>To simulate and validate the antenna using ANSYS HFSS, we analyse critical parameters such as return loss (S11), isolation (S12), VSWR, gain, and radiation efficiency.</a:t>
            </a:r>
            <a:endParaRPr b="0" i="0" sz="1400" u="none" cap="none" strike="noStrike">
              <a:solidFill>
                <a:srgbClr val="000000"/>
              </a:solidFill>
              <a:latin typeface="Arial"/>
              <a:ea typeface="Arial"/>
              <a:cs typeface="Arial"/>
              <a:sym typeface="Arial"/>
            </a:endParaRPr>
          </a:p>
          <a:p>
            <a:pPr indent="-191573" lvl="1" marL="383145" marR="0" rtl="0" algn="just">
              <a:lnSpc>
                <a:spcPct val="120011"/>
              </a:lnSpc>
              <a:spcBef>
                <a:spcPts val="0"/>
              </a:spcBef>
              <a:spcAft>
                <a:spcPts val="0"/>
              </a:spcAft>
              <a:buClr>
                <a:srgbClr val="000000"/>
              </a:buClr>
              <a:buSzPts val="1774"/>
              <a:buFont typeface="Arial"/>
              <a:buChar char="•"/>
            </a:pPr>
            <a:r>
              <a:rPr b="0" i="0" lang="en-US" sz="1774" u="none" cap="none" strike="noStrike">
                <a:solidFill>
                  <a:srgbClr val="000000"/>
                </a:solidFill>
                <a:latin typeface="Times New Roman"/>
                <a:ea typeface="Times New Roman"/>
                <a:cs typeface="Times New Roman"/>
                <a:sym typeface="Times New Roman"/>
              </a:rPr>
              <a:t>To implement mutual coupling reduction techniques such as defected ground structures or decoupling slots to enhance isolation performance.</a:t>
            </a:r>
            <a:endParaRPr b="0" i="0" sz="1400" u="none" cap="none" strike="noStrike">
              <a:solidFill>
                <a:srgbClr val="000000"/>
              </a:solidFill>
              <a:latin typeface="Arial"/>
              <a:ea typeface="Arial"/>
              <a:cs typeface="Arial"/>
              <a:sym typeface="Arial"/>
            </a:endParaRPr>
          </a:p>
          <a:p>
            <a:pPr indent="-191573" lvl="1" marL="383145" marR="0" rtl="0" algn="just">
              <a:lnSpc>
                <a:spcPct val="120011"/>
              </a:lnSpc>
              <a:spcBef>
                <a:spcPts val="0"/>
              </a:spcBef>
              <a:spcAft>
                <a:spcPts val="0"/>
              </a:spcAft>
              <a:buClr>
                <a:srgbClr val="000000"/>
              </a:buClr>
              <a:buSzPts val="1774"/>
              <a:buFont typeface="Arial"/>
              <a:buChar char="•"/>
            </a:pPr>
            <a:r>
              <a:rPr b="0" i="0" lang="en-US" sz="1774" u="none" cap="none" strike="noStrike">
                <a:solidFill>
                  <a:srgbClr val="000000"/>
                </a:solidFill>
                <a:latin typeface="Times New Roman"/>
                <a:ea typeface="Times New Roman"/>
                <a:cs typeface="Times New Roman"/>
                <a:sym typeface="Times New Roman"/>
              </a:rPr>
              <a:t>To optimise substrate parameters, patch geometry, and feed configuration for improved impedance matching and stable radiation patterns.</a:t>
            </a:r>
            <a:endParaRPr b="0" i="0" sz="1400" u="none" cap="none" strike="noStrike">
              <a:solidFill>
                <a:srgbClr val="000000"/>
              </a:solidFill>
              <a:latin typeface="Arial"/>
              <a:ea typeface="Arial"/>
              <a:cs typeface="Arial"/>
              <a:sym typeface="Arial"/>
            </a:endParaRPr>
          </a:p>
          <a:p>
            <a:pPr indent="-191573" lvl="1" marL="383145" marR="0" rtl="0" algn="just">
              <a:lnSpc>
                <a:spcPct val="120011"/>
              </a:lnSpc>
              <a:spcBef>
                <a:spcPts val="0"/>
              </a:spcBef>
              <a:spcAft>
                <a:spcPts val="0"/>
              </a:spcAft>
              <a:buClr>
                <a:srgbClr val="000000"/>
              </a:buClr>
              <a:buSzPts val="1774"/>
              <a:buFont typeface="Arial"/>
              <a:buChar char="•"/>
            </a:pPr>
            <a:r>
              <a:rPr b="0" i="0" lang="en-US" sz="1774" u="none" cap="none" strike="noStrike">
                <a:solidFill>
                  <a:srgbClr val="000000"/>
                </a:solidFill>
                <a:latin typeface="Times New Roman"/>
                <a:ea typeface="Times New Roman"/>
                <a:cs typeface="Times New Roman"/>
                <a:sym typeface="Times New Roman"/>
              </a:rPr>
              <a:t>To evaluate performance metrics, including envelope correlation coefficient (ECC), diversity gain (DG), and total active reflection coefficient (TARC).</a:t>
            </a:r>
            <a:endParaRPr b="0" i="0" sz="1400" u="none" cap="none" strike="noStrike">
              <a:solidFill>
                <a:srgbClr val="000000"/>
              </a:solidFill>
              <a:latin typeface="Arial"/>
              <a:ea typeface="Arial"/>
              <a:cs typeface="Arial"/>
              <a:sym typeface="Arial"/>
            </a:endParaRPr>
          </a:p>
          <a:p>
            <a:pPr indent="-191573" lvl="1" marL="383145" marR="0" rtl="0" algn="just">
              <a:lnSpc>
                <a:spcPct val="120011"/>
              </a:lnSpc>
              <a:spcBef>
                <a:spcPts val="0"/>
              </a:spcBef>
              <a:spcAft>
                <a:spcPts val="0"/>
              </a:spcAft>
              <a:buClr>
                <a:srgbClr val="000000"/>
              </a:buClr>
              <a:buSzPts val="1774"/>
              <a:buFont typeface="Arial"/>
              <a:buChar char="•"/>
            </a:pPr>
            <a:r>
              <a:rPr b="0" i="0" lang="en-US" sz="1774" u="none" cap="none" strike="noStrike">
                <a:solidFill>
                  <a:srgbClr val="000000"/>
                </a:solidFill>
                <a:latin typeface="Times New Roman"/>
                <a:ea typeface="Times New Roman"/>
                <a:cs typeface="Times New Roman"/>
                <a:sym typeface="Times New Roman"/>
              </a:rPr>
              <a:t>To compile simulation results into comparative graphs and tables demonstrating improvements over conventional designs.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143" name="Shape 143"/>
        <p:cNvGrpSpPr/>
        <p:nvPr/>
      </p:nvGrpSpPr>
      <p:grpSpPr>
        <a:xfrm>
          <a:off x="0" y="0"/>
          <a:ext cx="0" cy="0"/>
          <a:chOff x="0" y="0"/>
          <a:chExt cx="0" cy="0"/>
        </a:xfrm>
      </p:grpSpPr>
      <p:grpSp>
        <p:nvGrpSpPr>
          <p:cNvPr id="144" name="Google Shape;144;p19"/>
          <p:cNvGrpSpPr/>
          <p:nvPr/>
        </p:nvGrpSpPr>
        <p:grpSpPr>
          <a:xfrm>
            <a:off x="230075" y="160788"/>
            <a:ext cx="9293450" cy="6916472"/>
            <a:chOff x="0" y="-28575"/>
            <a:chExt cx="3442019" cy="2561656"/>
          </a:xfrm>
        </p:grpSpPr>
        <p:sp>
          <p:nvSpPr>
            <p:cNvPr id="145" name="Google Shape;145;p19"/>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146" name="Google Shape;146;p19"/>
            <p:cNvSpPr txBox="1"/>
            <p:nvPr/>
          </p:nvSpPr>
          <p:spPr>
            <a:xfrm>
              <a:off x="0" y="-28575"/>
              <a:ext cx="3442019" cy="2561656"/>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7" name="Google Shape;147;p19"/>
          <p:cNvSpPr/>
          <p:nvPr/>
        </p:nvSpPr>
        <p:spPr>
          <a:xfrm>
            <a:off x="418854" y="409766"/>
            <a:ext cx="8915892" cy="6494445"/>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9"/>
          <p:cNvSpPr txBox="1"/>
          <p:nvPr/>
        </p:nvSpPr>
        <p:spPr>
          <a:xfrm>
            <a:off x="651600" y="712473"/>
            <a:ext cx="8450400" cy="2979900"/>
          </a:xfrm>
          <a:prstGeom prst="rect">
            <a:avLst/>
          </a:prstGeom>
          <a:noFill/>
          <a:ln>
            <a:noFill/>
          </a:ln>
        </p:spPr>
        <p:txBody>
          <a:bodyPr anchorCtr="0" anchor="t" bIns="0" lIns="0" spcFirstLastPara="1" rIns="0" wrap="square" tIns="0">
            <a:noAutofit/>
          </a:bodyPr>
          <a:lstStyle/>
          <a:p>
            <a:pPr indent="0" lvl="0" marL="0" marR="0" rtl="0" algn="ctr">
              <a:lnSpc>
                <a:spcPct val="120009"/>
              </a:lnSpc>
              <a:spcBef>
                <a:spcPts val="0"/>
              </a:spcBef>
              <a:spcAft>
                <a:spcPts val="0"/>
              </a:spcAft>
              <a:buClr>
                <a:srgbClr val="000000"/>
              </a:buClr>
              <a:buSzPts val="2429"/>
              <a:buFont typeface="Arial"/>
              <a:buNone/>
            </a:pPr>
            <a:r>
              <a:rPr b="1" i="0" lang="en-US" sz="2429" u="none" cap="none" strike="noStrike">
                <a:solidFill>
                  <a:srgbClr val="475E6F"/>
                </a:solidFill>
                <a:latin typeface="Times New Roman"/>
                <a:ea typeface="Times New Roman"/>
                <a:cs typeface="Times New Roman"/>
                <a:sym typeface="Times New Roman"/>
              </a:rPr>
              <a:t>METHODOLOGY (Workflow)</a:t>
            </a:r>
            <a:endParaRPr b="1" i="0" sz="1700" u="none" cap="none" strike="noStrike">
              <a:solidFill>
                <a:srgbClr val="000000"/>
              </a:solidFill>
              <a:latin typeface="Arial"/>
              <a:ea typeface="Arial"/>
              <a:cs typeface="Arial"/>
              <a:sym typeface="Arial"/>
            </a:endParaRPr>
          </a:p>
          <a:p>
            <a:pPr indent="0" lvl="0" marL="0" marR="0" rtl="0" algn="just">
              <a:lnSpc>
                <a:spcPct val="101456"/>
              </a:lnSpc>
              <a:spcBef>
                <a:spcPts val="0"/>
              </a:spcBef>
              <a:spcAft>
                <a:spcPts val="0"/>
              </a:spcAft>
              <a:buClr>
                <a:srgbClr val="000000"/>
              </a:buClr>
              <a:buSzPts val="2129"/>
              <a:buFont typeface="Arial"/>
              <a:buNone/>
            </a:pPr>
            <a:r>
              <a:t/>
            </a:r>
            <a:endParaRPr b="0" i="0" sz="2129" u="none" cap="none" strike="noStrike">
              <a:solidFill>
                <a:srgbClr val="475E6F"/>
              </a:solidFill>
              <a:latin typeface="Times New Roman"/>
              <a:ea typeface="Times New Roman"/>
              <a:cs typeface="Times New Roman"/>
              <a:sym typeface="Times New Roman"/>
            </a:endParaRPr>
          </a:p>
          <a:p>
            <a:pPr indent="-317500" lvl="0" marL="457200" marR="0" rtl="0" algn="just">
              <a:lnSpc>
                <a:spcPct val="120000"/>
              </a:lnSpc>
              <a:spcBef>
                <a:spcPts val="0"/>
              </a:spcBef>
              <a:spcAft>
                <a:spcPts val="0"/>
              </a:spcAft>
              <a:buClr>
                <a:srgbClr val="000000"/>
              </a:buClr>
              <a:buSzPts val="1400"/>
              <a:buFont typeface="Arial"/>
              <a:buAutoNum type="arabicPeriod"/>
            </a:pPr>
            <a:r>
              <a:rPr b="1" i="0" lang="en-US" sz="1700" u="none" cap="none" strike="noStrike">
                <a:solidFill>
                  <a:schemeClr val="dk1"/>
                </a:solidFill>
                <a:latin typeface="Arial"/>
                <a:ea typeface="Arial"/>
                <a:cs typeface="Arial"/>
                <a:sym typeface="Arial"/>
              </a:rPr>
              <a:t>Initial Single-Port Antenna Design : </a:t>
            </a:r>
            <a:r>
              <a:rPr b="0" i="0" lang="en-US" sz="1700" u="none" cap="none" strike="noStrike">
                <a:solidFill>
                  <a:schemeClr val="dk1"/>
                </a:solidFill>
                <a:latin typeface="Arial"/>
                <a:ea typeface="Arial"/>
                <a:cs typeface="Arial"/>
                <a:sym typeface="Arial"/>
              </a:rPr>
              <a:t>Design a single microstrip patch antenna based on target Sub-6 GHz resonance.</a:t>
            </a:r>
            <a:endParaRPr b="0" i="0" sz="1700" u="none" cap="none" strike="noStrike">
              <a:solidFill>
                <a:schemeClr val="dk1"/>
              </a:solidFill>
              <a:latin typeface="Arial"/>
              <a:ea typeface="Arial"/>
              <a:cs typeface="Arial"/>
              <a:sym typeface="Arial"/>
            </a:endParaRPr>
          </a:p>
          <a:p>
            <a:pPr indent="-336550" lvl="0" marL="457200" marR="0" rtl="0" algn="just">
              <a:lnSpc>
                <a:spcPct val="115000"/>
              </a:lnSpc>
              <a:spcBef>
                <a:spcPts val="0"/>
              </a:spcBef>
              <a:spcAft>
                <a:spcPts val="0"/>
              </a:spcAft>
              <a:buClr>
                <a:schemeClr val="dk1"/>
              </a:buClr>
              <a:buSzPts val="1700"/>
              <a:buFont typeface="Arial"/>
              <a:buAutoNum type="arabicPeriod"/>
            </a:pPr>
            <a:r>
              <a:rPr b="1" i="0" lang="en-US" sz="1700" u="none" cap="none" strike="noStrike">
                <a:solidFill>
                  <a:schemeClr val="dk1"/>
                </a:solidFill>
                <a:latin typeface="Arial"/>
                <a:ea typeface="Arial"/>
                <a:cs typeface="Arial"/>
                <a:sym typeface="Arial"/>
              </a:rPr>
              <a:t>Simulation of Single Patch in HFSS : </a:t>
            </a:r>
            <a:r>
              <a:rPr b="0" i="0" lang="en-US" sz="1700" u="none" cap="none" strike="noStrike">
                <a:solidFill>
                  <a:schemeClr val="dk1"/>
                </a:solidFill>
                <a:latin typeface="Arial"/>
                <a:ea typeface="Arial"/>
                <a:cs typeface="Arial"/>
                <a:sym typeface="Arial"/>
              </a:rPr>
              <a:t>Apply boundary conditions, excitation port, and run EM simulation.</a:t>
            </a:r>
            <a:endParaRPr b="0" i="0" sz="1700" u="none" cap="none" strike="noStrike">
              <a:solidFill>
                <a:schemeClr val="dk1"/>
              </a:solidFill>
              <a:latin typeface="Arial"/>
              <a:ea typeface="Arial"/>
              <a:cs typeface="Arial"/>
              <a:sym typeface="Arial"/>
            </a:endParaRPr>
          </a:p>
          <a:p>
            <a:pPr indent="-336550" lvl="0" marL="457200" marR="0" rtl="0" algn="just">
              <a:lnSpc>
                <a:spcPct val="115000"/>
              </a:lnSpc>
              <a:spcBef>
                <a:spcPts val="0"/>
              </a:spcBef>
              <a:spcAft>
                <a:spcPts val="0"/>
              </a:spcAft>
              <a:buClr>
                <a:schemeClr val="dk1"/>
              </a:buClr>
              <a:buSzPts val="1700"/>
              <a:buFont typeface="Arial"/>
              <a:buAutoNum type="arabicPeriod"/>
            </a:pPr>
            <a:r>
              <a:rPr b="1" i="0" lang="en-US" sz="1700" u="none" cap="none" strike="noStrike">
                <a:solidFill>
                  <a:schemeClr val="dk1"/>
                </a:solidFill>
                <a:latin typeface="Arial"/>
                <a:ea typeface="Arial"/>
                <a:cs typeface="Arial"/>
                <a:sym typeface="Arial"/>
              </a:rPr>
              <a:t>Performance Evaluation : </a:t>
            </a:r>
            <a:r>
              <a:rPr b="0" i="0" lang="en-US" sz="1700" u="none" cap="none" strike="noStrike">
                <a:solidFill>
                  <a:schemeClr val="dk1"/>
                </a:solidFill>
                <a:latin typeface="Arial"/>
                <a:ea typeface="Arial"/>
                <a:cs typeface="Arial"/>
                <a:sym typeface="Arial"/>
              </a:rPr>
              <a:t>Analyse </a:t>
            </a:r>
            <a:r>
              <a:rPr b="1" i="0" lang="en-US" sz="1700" u="none" cap="none" strike="noStrike">
                <a:solidFill>
                  <a:schemeClr val="dk1"/>
                </a:solidFill>
                <a:latin typeface="Arial"/>
                <a:ea typeface="Arial"/>
                <a:cs typeface="Arial"/>
                <a:sym typeface="Arial"/>
              </a:rPr>
              <a:t>S₁₁</a:t>
            </a:r>
            <a:r>
              <a:rPr b="0" i="0" lang="en-US" sz="1700" u="none" cap="none" strike="noStrike">
                <a:solidFill>
                  <a:schemeClr val="dk1"/>
                </a:solidFill>
                <a:latin typeface="Arial"/>
                <a:ea typeface="Arial"/>
                <a:cs typeface="Arial"/>
                <a:sym typeface="Arial"/>
              </a:rPr>
              <a:t>, bandwidth, and gain to ensure resonance at the desired frequency.</a:t>
            </a:r>
            <a:endParaRPr b="0" i="0" sz="1700" u="none" cap="none" strike="noStrike">
              <a:solidFill>
                <a:schemeClr val="dk1"/>
              </a:solidFill>
              <a:latin typeface="Arial"/>
              <a:ea typeface="Arial"/>
              <a:cs typeface="Arial"/>
              <a:sym typeface="Arial"/>
            </a:endParaRPr>
          </a:p>
          <a:p>
            <a:pPr indent="-336550" lvl="0" marL="457200" marR="0" rtl="0" algn="just">
              <a:lnSpc>
                <a:spcPct val="115000"/>
              </a:lnSpc>
              <a:spcBef>
                <a:spcPts val="0"/>
              </a:spcBef>
              <a:spcAft>
                <a:spcPts val="0"/>
              </a:spcAft>
              <a:buClr>
                <a:schemeClr val="dk1"/>
              </a:buClr>
              <a:buSzPts val="1700"/>
              <a:buFont typeface="Arial"/>
              <a:buAutoNum type="arabicPeriod"/>
            </a:pPr>
            <a:r>
              <a:rPr b="1" i="0" lang="en-US" sz="1700" u="none" cap="none" strike="noStrike">
                <a:solidFill>
                  <a:schemeClr val="dk1"/>
                </a:solidFill>
                <a:latin typeface="Arial"/>
                <a:ea typeface="Arial"/>
                <a:cs typeface="Arial"/>
                <a:sym typeface="Arial"/>
              </a:rPr>
              <a:t>Transition to MIMO Configuration : </a:t>
            </a:r>
            <a:r>
              <a:rPr b="0" i="0" lang="en-US" sz="1700" u="none" cap="none" strike="noStrike">
                <a:solidFill>
                  <a:schemeClr val="dk1"/>
                </a:solidFill>
                <a:latin typeface="Arial"/>
                <a:ea typeface="Arial"/>
                <a:cs typeface="Arial"/>
                <a:sym typeface="Arial"/>
              </a:rPr>
              <a:t>Convert single-element geometry into a </a:t>
            </a:r>
            <a:r>
              <a:rPr b="1" i="0" lang="en-US" sz="1700" u="none" cap="none" strike="noStrike">
                <a:solidFill>
                  <a:schemeClr val="dk1"/>
                </a:solidFill>
                <a:latin typeface="Arial"/>
                <a:ea typeface="Arial"/>
                <a:cs typeface="Arial"/>
                <a:sym typeface="Arial"/>
              </a:rPr>
              <a:t>2-port layout</a:t>
            </a:r>
            <a:r>
              <a:rPr b="0" i="0" lang="en-US" sz="1700" u="none" cap="none" strike="noStrike">
                <a:solidFill>
                  <a:schemeClr val="dk1"/>
                </a:solidFill>
                <a:latin typeface="Arial"/>
                <a:ea typeface="Arial"/>
                <a:cs typeface="Arial"/>
                <a:sym typeface="Arial"/>
              </a:rPr>
              <a:t> while keeping compact dimensions.</a:t>
            </a:r>
            <a:endParaRPr b="0" i="0" sz="1700" u="none" cap="none" strike="noStrike">
              <a:solidFill>
                <a:schemeClr val="dk1"/>
              </a:solidFill>
              <a:latin typeface="Arial"/>
              <a:ea typeface="Arial"/>
              <a:cs typeface="Arial"/>
              <a:sym typeface="Arial"/>
            </a:endParaRPr>
          </a:p>
          <a:p>
            <a:pPr indent="-336550" lvl="0" marL="457200" marR="0" rtl="0" algn="just">
              <a:lnSpc>
                <a:spcPct val="115000"/>
              </a:lnSpc>
              <a:spcBef>
                <a:spcPts val="0"/>
              </a:spcBef>
              <a:spcAft>
                <a:spcPts val="0"/>
              </a:spcAft>
              <a:buClr>
                <a:schemeClr val="dk1"/>
              </a:buClr>
              <a:buSzPts val="1700"/>
              <a:buFont typeface="Arial"/>
              <a:buAutoNum type="arabicPeriod"/>
            </a:pPr>
            <a:r>
              <a:rPr b="1" i="0" lang="en-US" sz="1700" u="none" cap="none" strike="noStrike">
                <a:solidFill>
                  <a:schemeClr val="dk1"/>
                </a:solidFill>
                <a:latin typeface="Arial"/>
                <a:ea typeface="Arial"/>
                <a:cs typeface="Arial"/>
                <a:sym typeface="Arial"/>
              </a:rPr>
              <a:t>Isolation &amp; Coupling Analysis : </a:t>
            </a:r>
            <a:r>
              <a:rPr b="0" i="0" lang="en-US" sz="1700" u="none" cap="none" strike="noStrike">
                <a:solidFill>
                  <a:schemeClr val="dk1"/>
                </a:solidFill>
                <a:latin typeface="Arial"/>
                <a:ea typeface="Arial"/>
                <a:cs typeface="Arial"/>
                <a:sym typeface="Arial"/>
              </a:rPr>
              <a:t>Simulate and evaluate </a:t>
            </a:r>
            <a:r>
              <a:rPr b="1" i="0" lang="en-US" sz="1700" u="none" cap="none" strike="noStrike">
                <a:solidFill>
                  <a:schemeClr val="dk1"/>
                </a:solidFill>
                <a:latin typeface="Arial"/>
                <a:ea typeface="Arial"/>
                <a:cs typeface="Arial"/>
                <a:sym typeface="Arial"/>
              </a:rPr>
              <a:t>S₂₁/S₁₂</a:t>
            </a:r>
            <a:r>
              <a:rPr b="0" i="0" lang="en-US" sz="1700" u="none" cap="none" strike="noStrike">
                <a:solidFill>
                  <a:schemeClr val="dk1"/>
                </a:solidFill>
                <a:latin typeface="Arial"/>
                <a:ea typeface="Arial"/>
                <a:cs typeface="Arial"/>
                <a:sym typeface="Arial"/>
              </a:rPr>
              <a:t>, ECC, and radiation characteristics of the 2-port configuration.</a:t>
            </a:r>
            <a:endParaRPr b="0" i="0" sz="1700" u="none" cap="none" strike="noStrike">
              <a:solidFill>
                <a:schemeClr val="dk1"/>
              </a:solidFill>
              <a:latin typeface="Arial"/>
              <a:ea typeface="Arial"/>
              <a:cs typeface="Arial"/>
              <a:sym typeface="Arial"/>
            </a:endParaRPr>
          </a:p>
          <a:p>
            <a:pPr indent="-336550" lvl="0" marL="457200" marR="0" rtl="0" algn="just">
              <a:lnSpc>
                <a:spcPct val="115000"/>
              </a:lnSpc>
              <a:spcBef>
                <a:spcPts val="0"/>
              </a:spcBef>
              <a:spcAft>
                <a:spcPts val="0"/>
              </a:spcAft>
              <a:buClr>
                <a:schemeClr val="dk1"/>
              </a:buClr>
              <a:buSzPts val="1700"/>
              <a:buFont typeface="Arial"/>
              <a:buAutoNum type="arabicPeriod"/>
            </a:pPr>
            <a:r>
              <a:rPr b="1" i="0" lang="en-US" sz="1700" u="none" cap="none" strike="noStrike">
                <a:solidFill>
                  <a:schemeClr val="dk1"/>
                </a:solidFill>
                <a:latin typeface="Arial"/>
                <a:ea typeface="Arial"/>
                <a:cs typeface="Arial"/>
                <a:sym typeface="Arial"/>
              </a:rPr>
              <a:t>Design Optimization : </a:t>
            </a:r>
            <a:r>
              <a:rPr b="0" i="0" lang="en-US" sz="1700" u="none" cap="none" strike="noStrike">
                <a:solidFill>
                  <a:schemeClr val="dk1"/>
                </a:solidFill>
                <a:latin typeface="Arial"/>
                <a:ea typeface="Arial"/>
                <a:cs typeface="Arial"/>
                <a:sym typeface="Arial"/>
              </a:rPr>
              <a:t>Introduce slot/DGS/spacing/structural modifications to improve </a:t>
            </a:r>
            <a:r>
              <a:rPr b="1" i="0" lang="en-US" sz="1700" u="none" cap="none" strike="noStrike">
                <a:solidFill>
                  <a:schemeClr val="dk1"/>
                </a:solidFill>
                <a:latin typeface="Arial"/>
                <a:ea typeface="Arial"/>
                <a:cs typeface="Arial"/>
                <a:sym typeface="Arial"/>
              </a:rPr>
              <a:t>bandwidth and mutual isolation</a:t>
            </a:r>
            <a:r>
              <a:rPr b="0" i="0" lang="en-US" sz="1700" u="none" cap="none" strike="noStrike">
                <a:solidFill>
                  <a:schemeClr val="dk1"/>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a:p>
            <a:pPr indent="-336550" lvl="0" marL="457200" marR="0" rtl="0" algn="just">
              <a:lnSpc>
                <a:spcPct val="115000"/>
              </a:lnSpc>
              <a:spcBef>
                <a:spcPts val="0"/>
              </a:spcBef>
              <a:spcAft>
                <a:spcPts val="0"/>
              </a:spcAft>
              <a:buClr>
                <a:schemeClr val="dk1"/>
              </a:buClr>
              <a:buSzPts val="1700"/>
              <a:buFont typeface="Arial"/>
              <a:buAutoNum type="arabicPeriod"/>
            </a:pPr>
            <a:r>
              <a:rPr b="1" i="0" lang="en-US" sz="1700" u="none" cap="none" strike="noStrike">
                <a:solidFill>
                  <a:schemeClr val="dk1"/>
                </a:solidFill>
                <a:latin typeface="Arial"/>
                <a:ea typeface="Arial"/>
                <a:cs typeface="Arial"/>
                <a:sym typeface="Arial"/>
              </a:rPr>
              <a:t>Final Validation : </a:t>
            </a:r>
            <a:r>
              <a:rPr b="0" i="0" lang="en-US" sz="1700" u="none" cap="none" strike="noStrike">
                <a:solidFill>
                  <a:schemeClr val="dk1"/>
                </a:solidFill>
                <a:latin typeface="Arial"/>
                <a:ea typeface="Arial"/>
                <a:cs typeface="Arial"/>
                <a:sym typeface="Arial"/>
              </a:rPr>
              <a:t>Confirm performance targets:</a:t>
            </a:r>
            <a:br>
              <a:rPr b="0" i="0" lang="en-US" sz="1700" u="none" cap="none" strike="noStrike">
                <a:solidFill>
                  <a:schemeClr val="dk1"/>
                </a:solidFill>
                <a:latin typeface="Arial"/>
                <a:ea typeface="Arial"/>
                <a:cs typeface="Arial"/>
                <a:sym typeface="Arial"/>
              </a:rPr>
            </a:br>
            <a:r>
              <a:rPr b="0" i="0" lang="en-US" sz="1700" u="none" cap="none" strike="noStrike">
                <a:solidFill>
                  <a:schemeClr val="dk1"/>
                </a:solidFill>
                <a:latin typeface="Arial"/>
                <a:ea typeface="Arial"/>
                <a:cs typeface="Arial"/>
                <a:sym typeface="Arial"/>
              </a:rPr>
              <a:t> → S₁₁ &lt; –10 dB,</a:t>
            </a:r>
            <a:br>
              <a:rPr b="0" i="0" lang="en-US" sz="1700" u="none" cap="none" strike="noStrike">
                <a:solidFill>
                  <a:schemeClr val="dk1"/>
                </a:solidFill>
                <a:latin typeface="Arial"/>
                <a:ea typeface="Arial"/>
                <a:cs typeface="Arial"/>
                <a:sym typeface="Arial"/>
              </a:rPr>
            </a:br>
            <a:r>
              <a:rPr b="0" i="0" lang="en-US" sz="1700" u="none" cap="none" strike="noStrike">
                <a:solidFill>
                  <a:schemeClr val="dk1"/>
                </a:solidFill>
                <a:latin typeface="Arial"/>
                <a:ea typeface="Arial"/>
                <a:cs typeface="Arial"/>
                <a:sym typeface="Arial"/>
              </a:rPr>
              <a:t> → S₂₁ &lt; –15 or –20 dB,</a:t>
            </a:r>
            <a:br>
              <a:rPr b="0" i="0" lang="en-US" sz="1700" u="none" cap="none" strike="noStrike">
                <a:solidFill>
                  <a:schemeClr val="dk1"/>
                </a:solidFill>
                <a:latin typeface="Arial"/>
                <a:ea typeface="Arial"/>
                <a:cs typeface="Arial"/>
                <a:sym typeface="Arial"/>
              </a:rPr>
            </a:br>
            <a:r>
              <a:rPr b="0" i="0" lang="en-US" sz="1700" u="none" cap="none" strike="noStrike">
                <a:solidFill>
                  <a:schemeClr val="dk1"/>
                </a:solidFill>
                <a:latin typeface="Arial"/>
                <a:ea typeface="Arial"/>
                <a:cs typeface="Arial"/>
                <a:sym typeface="Arial"/>
              </a:rPr>
              <a:t> → Stable radiation pattern &amp; ECC ≈ 0.</a:t>
            </a:r>
            <a:endParaRPr b="0" i="0" sz="1700" u="none" cap="none" strike="noStrike">
              <a:solidFill>
                <a:schemeClr val="dk1"/>
              </a:solidFill>
              <a:latin typeface="Arial"/>
              <a:ea typeface="Arial"/>
              <a:cs typeface="Arial"/>
              <a:sym typeface="Arial"/>
            </a:endParaRPr>
          </a:p>
          <a:p>
            <a:pPr indent="-336550" lvl="0" marL="457200" marR="0" rtl="0" algn="just">
              <a:lnSpc>
                <a:spcPct val="115000"/>
              </a:lnSpc>
              <a:spcBef>
                <a:spcPts val="0"/>
              </a:spcBef>
              <a:spcAft>
                <a:spcPts val="0"/>
              </a:spcAft>
              <a:buClr>
                <a:schemeClr val="dk1"/>
              </a:buClr>
              <a:buSzPts val="1700"/>
              <a:buFont typeface="Arial"/>
              <a:buAutoNum type="arabicPeriod"/>
            </a:pPr>
            <a:r>
              <a:rPr b="1" i="0" lang="en-US" sz="1700" u="none" cap="none" strike="noStrike">
                <a:solidFill>
                  <a:schemeClr val="dk1"/>
                </a:solidFill>
                <a:latin typeface="Arial"/>
                <a:ea typeface="Arial"/>
                <a:cs typeface="Arial"/>
                <a:sym typeface="Arial"/>
              </a:rPr>
              <a:t>Documentation &amp; Result Comparison : </a:t>
            </a:r>
            <a:r>
              <a:rPr b="0" i="0" lang="en-US" sz="1700" u="none" cap="none" strike="noStrike">
                <a:solidFill>
                  <a:schemeClr val="dk1"/>
                </a:solidFill>
                <a:latin typeface="Arial"/>
                <a:ea typeface="Arial"/>
                <a:cs typeface="Arial"/>
                <a:sym typeface="Arial"/>
              </a:rPr>
              <a:t>Compare final antenna performance with results from reference papers.</a:t>
            </a:r>
            <a:endParaRPr b="0" i="0" sz="17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152" name="Shape 152"/>
        <p:cNvGrpSpPr/>
        <p:nvPr/>
      </p:nvGrpSpPr>
      <p:grpSpPr>
        <a:xfrm>
          <a:off x="0" y="0"/>
          <a:ext cx="0" cy="0"/>
          <a:chOff x="0" y="0"/>
          <a:chExt cx="0" cy="0"/>
        </a:xfrm>
      </p:grpSpPr>
      <p:grpSp>
        <p:nvGrpSpPr>
          <p:cNvPr id="153" name="Google Shape;153;p20"/>
          <p:cNvGrpSpPr/>
          <p:nvPr/>
        </p:nvGrpSpPr>
        <p:grpSpPr>
          <a:xfrm>
            <a:off x="230075" y="160788"/>
            <a:ext cx="9293450" cy="6916472"/>
            <a:chOff x="0" y="-28575"/>
            <a:chExt cx="3442019" cy="2561656"/>
          </a:xfrm>
        </p:grpSpPr>
        <p:sp>
          <p:nvSpPr>
            <p:cNvPr id="154" name="Google Shape;154;p20"/>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155" name="Google Shape;155;p20"/>
            <p:cNvSpPr txBox="1"/>
            <p:nvPr/>
          </p:nvSpPr>
          <p:spPr>
            <a:xfrm>
              <a:off x="0" y="-28575"/>
              <a:ext cx="3442019" cy="2561656"/>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6" name="Google Shape;156;p20"/>
          <p:cNvSpPr/>
          <p:nvPr/>
        </p:nvSpPr>
        <p:spPr>
          <a:xfrm>
            <a:off x="418854" y="409766"/>
            <a:ext cx="8915892" cy="6494445"/>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0"/>
          <p:cNvSpPr txBox="1"/>
          <p:nvPr/>
        </p:nvSpPr>
        <p:spPr>
          <a:xfrm>
            <a:off x="651600" y="712470"/>
            <a:ext cx="8450400" cy="1445100"/>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Clr>
                <a:srgbClr val="000000"/>
              </a:buClr>
              <a:buSzPts val="2429"/>
              <a:buFont typeface="Arial"/>
              <a:buNone/>
            </a:pPr>
            <a:r>
              <a:rPr b="1" i="0" lang="en-US" sz="2429" u="none" cap="none" strike="noStrike">
                <a:solidFill>
                  <a:srgbClr val="475E6F"/>
                </a:solidFill>
                <a:latin typeface="Times New Roman"/>
                <a:ea typeface="Times New Roman"/>
                <a:cs typeface="Times New Roman"/>
                <a:sym typeface="Times New Roman"/>
              </a:rPr>
              <a:t>BLOCK DIAGRAM OF THE PROJECT</a:t>
            </a:r>
            <a:endParaRPr b="1" i="0" sz="1700" u="none" cap="none" strike="noStrike">
              <a:solidFill>
                <a:srgbClr val="000000"/>
              </a:solidFill>
              <a:latin typeface="Arial"/>
              <a:ea typeface="Arial"/>
              <a:cs typeface="Arial"/>
              <a:sym typeface="Arial"/>
            </a:endParaRPr>
          </a:p>
          <a:p>
            <a:pPr indent="0" lvl="0" marL="0" marR="0" rtl="0" algn="just">
              <a:lnSpc>
                <a:spcPct val="120713"/>
              </a:lnSpc>
              <a:spcBef>
                <a:spcPts val="0"/>
              </a:spcBef>
              <a:spcAft>
                <a:spcPts val="0"/>
              </a:spcAft>
              <a:buClr>
                <a:srgbClr val="000000"/>
              </a:buClr>
              <a:buSzPts val="2129"/>
              <a:buFont typeface="Arial"/>
              <a:buNone/>
            </a:pPr>
            <a:r>
              <a:t/>
            </a:r>
            <a:endParaRPr b="0" i="0" sz="2129" u="none" cap="none" strike="noStrike">
              <a:solidFill>
                <a:srgbClr val="475E6F"/>
              </a:solidFill>
              <a:latin typeface="Times New Roman"/>
              <a:ea typeface="Times New Roman"/>
              <a:cs typeface="Times New Roman"/>
              <a:sym typeface="Times New Roman"/>
            </a:endParaRPr>
          </a:p>
          <a:p>
            <a:pPr indent="0" lvl="0" marL="0" marR="0" rtl="0" algn="just">
              <a:lnSpc>
                <a:spcPct val="120011"/>
              </a:lnSpc>
              <a:spcBef>
                <a:spcPts val="0"/>
              </a:spcBef>
              <a:spcAft>
                <a:spcPts val="0"/>
              </a:spcAft>
              <a:buClr>
                <a:srgbClr val="000000"/>
              </a:buClr>
              <a:buSzPts val="1774"/>
              <a:buFont typeface="Arial"/>
              <a:buNone/>
            </a:pPr>
            <a:r>
              <a:rPr b="0" i="0" lang="en-US" sz="1774" u="none" cap="none" strike="noStrike">
                <a:solidFill>
                  <a:srgbClr val="000000"/>
                </a:solidFill>
                <a:latin typeface="Times New Roman"/>
                <a:ea typeface="Times New Roman"/>
                <a:cs typeface="Times New Roman"/>
                <a:sym typeface="Times New Roman"/>
              </a:rPr>
              <a:t>The block diagram below illustrates the overall workflow of the proposed antenna design and simulation process:</a:t>
            </a:r>
            <a:endParaRPr b="0" i="0" sz="1400" u="none" cap="none" strike="noStrike">
              <a:solidFill>
                <a:srgbClr val="000000"/>
              </a:solidFill>
              <a:latin typeface="Arial"/>
              <a:ea typeface="Arial"/>
              <a:cs typeface="Arial"/>
              <a:sym typeface="Arial"/>
            </a:endParaRPr>
          </a:p>
        </p:txBody>
      </p:sp>
      <p:sp>
        <p:nvSpPr>
          <p:cNvPr id="158" name="Google Shape;158;p20"/>
          <p:cNvSpPr txBox="1"/>
          <p:nvPr/>
        </p:nvSpPr>
        <p:spPr>
          <a:xfrm>
            <a:off x="691560" y="6078526"/>
            <a:ext cx="8370600" cy="215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9" name="Google Shape;159;p20" title="Screenshot 2025-12-08 at 9.49.42 AM.png"/>
          <p:cNvPicPr preferRelativeResize="0"/>
          <p:nvPr/>
        </p:nvPicPr>
        <p:blipFill rotWithShape="1">
          <a:blip r:embed="rId3">
            <a:alphaModFix/>
          </a:blip>
          <a:srcRect b="0" l="0" r="0" t="0"/>
          <a:stretch/>
        </p:blipFill>
        <p:spPr>
          <a:xfrm>
            <a:off x="1886200" y="2209975"/>
            <a:ext cx="6484299" cy="37860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163" name="Shape 163"/>
        <p:cNvGrpSpPr/>
        <p:nvPr/>
      </p:nvGrpSpPr>
      <p:grpSpPr>
        <a:xfrm>
          <a:off x="0" y="0"/>
          <a:ext cx="0" cy="0"/>
          <a:chOff x="0" y="0"/>
          <a:chExt cx="0" cy="0"/>
        </a:xfrm>
      </p:grpSpPr>
      <p:sp>
        <p:nvSpPr>
          <p:cNvPr id="164" name="Google Shape;164;p21"/>
          <p:cNvSpPr/>
          <p:nvPr/>
        </p:nvSpPr>
        <p:spPr>
          <a:xfrm>
            <a:off x="239850" y="188450"/>
            <a:ext cx="9268200" cy="6903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5" name="Google Shape;165;p21"/>
          <p:cNvSpPr txBox="1"/>
          <p:nvPr/>
        </p:nvSpPr>
        <p:spPr>
          <a:xfrm>
            <a:off x="685275" y="1062150"/>
            <a:ext cx="8377500" cy="4471500"/>
          </a:xfrm>
          <a:prstGeom prst="rect">
            <a:avLst/>
          </a:prstGeom>
          <a:noFill/>
          <a:ln>
            <a:noFill/>
          </a:ln>
        </p:spPr>
        <p:txBody>
          <a:bodyPr anchorCtr="0" anchor="ctr" bIns="91425" lIns="91425" spcFirstLastPara="1" rIns="91425" wrap="square" tIns="91425">
            <a:noAutofit/>
          </a:bodyPr>
          <a:lstStyle/>
          <a:p>
            <a:pPr indent="0" lvl="0" marL="0" marR="0" rtl="0" algn="just">
              <a:lnSpc>
                <a:spcPct val="12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This block diagram represents the functional operation of the proposed two-port microstrip MIMO antenna for Sub-6 GHz 5G applications. A Sub-6 GHz RF signal is applied independently to both radiating ports of the antenna. The isolation and defected-ground/decoupling structure in the middle of the antenna suppress mutual coupling between the ports and maintains low envelope correlation. Each port radiates and receives electromagnetic energy independently, and the combined radiation characteristics enable MIMO spatial diversity. The antenna output is analyzed through a Vector Network Analyzer (VNA) or 5G transceiver for evaluation of S-parameters, gain, bandwidth, radiation patterns and ECC.</a:t>
            </a:r>
            <a:endParaRPr b="0" i="0" sz="3600" u="none" cap="none" strike="noStrike">
              <a:solidFill>
                <a:schemeClr val="dk1"/>
              </a:solidFill>
              <a:latin typeface="Calibri"/>
              <a:ea typeface="Calibri"/>
              <a:cs typeface="Calibri"/>
              <a:sym typeface="Calibri"/>
            </a:endParaRPr>
          </a:p>
        </p:txBody>
      </p:sp>
      <p:sp>
        <p:nvSpPr>
          <p:cNvPr id="166" name="Google Shape;166;p21"/>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170" name="Shape 170"/>
        <p:cNvGrpSpPr/>
        <p:nvPr/>
      </p:nvGrpSpPr>
      <p:grpSpPr>
        <a:xfrm>
          <a:off x="0" y="0"/>
          <a:ext cx="0" cy="0"/>
          <a:chOff x="0" y="0"/>
          <a:chExt cx="0" cy="0"/>
        </a:xfrm>
      </p:grpSpPr>
      <p:sp>
        <p:nvSpPr>
          <p:cNvPr id="171" name="Google Shape;171;p22"/>
          <p:cNvSpPr/>
          <p:nvPr/>
        </p:nvSpPr>
        <p:spPr>
          <a:xfrm>
            <a:off x="239850" y="188450"/>
            <a:ext cx="9268200" cy="6903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2" name="Google Shape;172;p22"/>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22"/>
          <p:cNvSpPr txBox="1"/>
          <p:nvPr/>
        </p:nvSpPr>
        <p:spPr>
          <a:xfrm>
            <a:off x="839450" y="668125"/>
            <a:ext cx="7966200" cy="633900"/>
          </a:xfrm>
          <a:prstGeom prst="rect">
            <a:avLst/>
          </a:prstGeom>
          <a:noFill/>
          <a:ln>
            <a:noFill/>
          </a:ln>
        </p:spPr>
        <p:txBody>
          <a:bodyPr anchorCtr="0" anchor="t" bIns="91425" lIns="91425" spcFirstLastPara="1" rIns="91425" wrap="square" tIns="91425">
            <a:noAutofit/>
          </a:bodyPr>
          <a:lstStyle/>
          <a:p>
            <a:pPr indent="0" lvl="0" marL="0" marR="0" rtl="0" algn="ctr">
              <a:lnSpc>
                <a:spcPct val="150000"/>
              </a:lnSpc>
              <a:spcBef>
                <a:spcPts val="800"/>
              </a:spcBef>
              <a:spcAft>
                <a:spcPts val="0"/>
              </a:spcAft>
              <a:buClr>
                <a:srgbClr val="000000"/>
              </a:buClr>
              <a:buSzPts val="2400"/>
              <a:buFont typeface="Arial"/>
              <a:buNone/>
            </a:pPr>
            <a:r>
              <a:rPr b="1" i="0" lang="en-US" sz="2400" u="none" cap="none" strike="noStrike">
                <a:solidFill>
                  <a:srgbClr val="475E6F"/>
                </a:solidFill>
                <a:highlight>
                  <a:schemeClr val="lt1"/>
                </a:highlight>
                <a:latin typeface="Times New Roman"/>
                <a:ea typeface="Times New Roman"/>
                <a:cs typeface="Times New Roman"/>
                <a:sym typeface="Times New Roman"/>
              </a:rPr>
              <a:t>ANTENNA DESIGN</a:t>
            </a:r>
            <a:endParaRPr b="1" i="0" sz="2400" u="none" cap="none" strike="noStrike">
              <a:solidFill>
                <a:srgbClr val="475E6F"/>
              </a:solidFill>
              <a:highlight>
                <a:schemeClr val="lt1"/>
              </a:highlight>
              <a:latin typeface="Times New Roman"/>
              <a:ea typeface="Times New Roman"/>
              <a:cs typeface="Times New Roman"/>
              <a:sym typeface="Times New Roman"/>
            </a:endParaRPr>
          </a:p>
          <a:p>
            <a:pPr indent="0" lvl="0" marL="0" marR="0" rtl="0" algn="ctr">
              <a:lnSpc>
                <a:spcPct val="100000"/>
              </a:lnSpc>
              <a:spcBef>
                <a:spcPts val="2400"/>
              </a:spcBef>
              <a:spcAft>
                <a:spcPts val="0"/>
              </a:spcAft>
              <a:buClr>
                <a:srgbClr val="000000"/>
              </a:buClr>
              <a:buSzPts val="2500"/>
              <a:buFont typeface="Arial"/>
              <a:buNone/>
            </a:pPr>
            <a:r>
              <a:t/>
            </a:r>
            <a:endParaRPr b="0" i="0" sz="2500" u="none" cap="none" strike="noStrike">
              <a:solidFill>
                <a:schemeClr val="dk1"/>
              </a:solidFill>
              <a:latin typeface="Times New Roman"/>
              <a:ea typeface="Times New Roman"/>
              <a:cs typeface="Times New Roman"/>
              <a:sym typeface="Times New Roman"/>
            </a:endParaRPr>
          </a:p>
        </p:txBody>
      </p:sp>
      <p:pic>
        <p:nvPicPr>
          <p:cNvPr id="174" name="Google Shape;174;p22" title="Screenshot 2026-03-15 131514.png"/>
          <p:cNvPicPr preferRelativeResize="0"/>
          <p:nvPr/>
        </p:nvPicPr>
        <p:blipFill rotWithShape="1">
          <a:blip r:embed="rId3">
            <a:alphaModFix/>
          </a:blip>
          <a:srcRect b="6725" l="-770" r="770" t="0"/>
          <a:stretch/>
        </p:blipFill>
        <p:spPr>
          <a:xfrm>
            <a:off x="516000" y="1781475"/>
            <a:ext cx="8650775" cy="4592775"/>
          </a:xfrm>
          <a:prstGeom prst="rect">
            <a:avLst/>
          </a:prstGeom>
          <a:noFill/>
          <a:ln>
            <a:noFill/>
          </a:ln>
        </p:spPr>
      </p:pic>
      <p:sp>
        <p:nvSpPr>
          <p:cNvPr id="175" name="Google Shape;175;p22"/>
          <p:cNvSpPr txBox="1"/>
          <p:nvPr/>
        </p:nvSpPr>
        <p:spPr>
          <a:xfrm>
            <a:off x="3930775" y="6450125"/>
            <a:ext cx="2397900" cy="27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chemeClr val="dk1"/>
                </a:solidFill>
                <a:latin typeface="Times New Roman"/>
                <a:ea typeface="Times New Roman"/>
                <a:cs typeface="Times New Roman"/>
                <a:sym typeface="Times New Roman"/>
              </a:rPr>
              <a:t>Front View</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179" name="Shape 179"/>
        <p:cNvGrpSpPr/>
        <p:nvPr/>
      </p:nvGrpSpPr>
      <p:grpSpPr>
        <a:xfrm>
          <a:off x="0" y="0"/>
          <a:ext cx="0" cy="0"/>
          <a:chOff x="0" y="0"/>
          <a:chExt cx="0" cy="0"/>
        </a:xfrm>
      </p:grpSpPr>
      <p:grpSp>
        <p:nvGrpSpPr>
          <p:cNvPr id="180" name="Google Shape;180;p23"/>
          <p:cNvGrpSpPr/>
          <p:nvPr/>
        </p:nvGrpSpPr>
        <p:grpSpPr>
          <a:xfrm>
            <a:off x="230075" y="160789"/>
            <a:ext cx="9293451" cy="6916590"/>
            <a:chOff x="0" y="-28575"/>
            <a:chExt cx="3442019" cy="2561700"/>
          </a:xfrm>
        </p:grpSpPr>
        <p:sp>
          <p:nvSpPr>
            <p:cNvPr id="181" name="Google Shape;181;p23"/>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182" name="Google Shape;182;p23"/>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3" name="Google Shape;183;p23"/>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4" name="Google Shape;184;p23" title="Screenshot 2026-03-13 161920.png"/>
          <p:cNvPicPr preferRelativeResize="0"/>
          <p:nvPr/>
        </p:nvPicPr>
        <p:blipFill rotWithShape="1">
          <a:blip r:embed="rId3">
            <a:alphaModFix/>
          </a:blip>
          <a:srcRect b="0" l="0" r="0" t="0"/>
          <a:stretch/>
        </p:blipFill>
        <p:spPr>
          <a:xfrm>
            <a:off x="679475" y="564625"/>
            <a:ext cx="8377575" cy="5728751"/>
          </a:xfrm>
          <a:prstGeom prst="rect">
            <a:avLst/>
          </a:prstGeom>
          <a:noFill/>
          <a:ln>
            <a:noFill/>
          </a:ln>
        </p:spPr>
      </p:pic>
      <p:sp>
        <p:nvSpPr>
          <p:cNvPr id="185" name="Google Shape;185;p23"/>
          <p:cNvSpPr txBox="1"/>
          <p:nvPr/>
        </p:nvSpPr>
        <p:spPr>
          <a:xfrm>
            <a:off x="3822000" y="6359075"/>
            <a:ext cx="2109600" cy="39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chemeClr val="dk1"/>
                </a:solidFill>
                <a:latin typeface="Times New Roman"/>
                <a:ea typeface="Times New Roman"/>
                <a:cs typeface="Times New Roman"/>
                <a:sym typeface="Times New Roman"/>
              </a:rPr>
              <a:t>Back View</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189" name="Shape 189"/>
        <p:cNvGrpSpPr/>
        <p:nvPr/>
      </p:nvGrpSpPr>
      <p:grpSpPr>
        <a:xfrm>
          <a:off x="0" y="0"/>
          <a:ext cx="0" cy="0"/>
          <a:chOff x="0" y="0"/>
          <a:chExt cx="0" cy="0"/>
        </a:xfrm>
      </p:grpSpPr>
      <p:grpSp>
        <p:nvGrpSpPr>
          <p:cNvPr id="190" name="Google Shape;190;p24"/>
          <p:cNvGrpSpPr/>
          <p:nvPr/>
        </p:nvGrpSpPr>
        <p:grpSpPr>
          <a:xfrm>
            <a:off x="230075" y="192476"/>
            <a:ext cx="9293451" cy="6916590"/>
            <a:chOff x="0" y="-28575"/>
            <a:chExt cx="3442019" cy="2561700"/>
          </a:xfrm>
        </p:grpSpPr>
        <p:sp>
          <p:nvSpPr>
            <p:cNvPr id="191" name="Google Shape;191;p24"/>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192" name="Google Shape;192;p24"/>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3" name="Google Shape;193;p24"/>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4" name="Google Shape;194;p24" title="Screenshot 2026-03-19 at 2.28.09 PM.png"/>
          <p:cNvPicPr preferRelativeResize="0"/>
          <p:nvPr/>
        </p:nvPicPr>
        <p:blipFill rotWithShape="1">
          <a:blip r:embed="rId3">
            <a:alphaModFix/>
          </a:blip>
          <a:srcRect b="0" l="0" r="0" t="0"/>
          <a:stretch/>
        </p:blipFill>
        <p:spPr>
          <a:xfrm>
            <a:off x="697900" y="1464025"/>
            <a:ext cx="8340700" cy="4789000"/>
          </a:xfrm>
          <a:prstGeom prst="rect">
            <a:avLst/>
          </a:prstGeom>
          <a:noFill/>
          <a:ln>
            <a:noFill/>
          </a:ln>
        </p:spPr>
      </p:pic>
      <p:sp>
        <p:nvSpPr>
          <p:cNvPr id="195" name="Google Shape;195;p24"/>
          <p:cNvSpPr txBox="1"/>
          <p:nvPr/>
        </p:nvSpPr>
        <p:spPr>
          <a:xfrm>
            <a:off x="1785000" y="6253025"/>
            <a:ext cx="6183600" cy="43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S11 Parameter for Single Element </a:t>
            </a:r>
            <a:endParaRPr b="0" i="0" sz="2000" u="none" cap="none" strike="noStrike">
              <a:solidFill>
                <a:schemeClr val="dk1"/>
              </a:solidFill>
              <a:latin typeface="Times New Roman"/>
              <a:ea typeface="Times New Roman"/>
              <a:cs typeface="Times New Roman"/>
              <a:sym typeface="Times New Roman"/>
            </a:endParaRPr>
          </a:p>
        </p:txBody>
      </p:sp>
      <p:sp>
        <p:nvSpPr>
          <p:cNvPr id="196" name="Google Shape;196;p24"/>
          <p:cNvSpPr txBox="1"/>
          <p:nvPr/>
        </p:nvSpPr>
        <p:spPr>
          <a:xfrm>
            <a:off x="2351850" y="692000"/>
            <a:ext cx="5049900" cy="43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475E6F"/>
                </a:solidFill>
                <a:latin typeface="Times New Roman"/>
                <a:ea typeface="Times New Roman"/>
                <a:cs typeface="Times New Roman"/>
                <a:sym typeface="Times New Roman"/>
              </a:rPr>
              <a:t>RESULTS</a:t>
            </a:r>
            <a:endParaRPr b="1" i="0" sz="2400" u="none" cap="none" strike="noStrike">
              <a:solidFill>
                <a:srgbClr val="475E6F"/>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00" name="Shape 200"/>
        <p:cNvGrpSpPr/>
        <p:nvPr/>
      </p:nvGrpSpPr>
      <p:grpSpPr>
        <a:xfrm>
          <a:off x="0" y="0"/>
          <a:ext cx="0" cy="0"/>
          <a:chOff x="0" y="0"/>
          <a:chExt cx="0" cy="0"/>
        </a:xfrm>
      </p:grpSpPr>
      <p:grpSp>
        <p:nvGrpSpPr>
          <p:cNvPr id="201" name="Google Shape;201;p25"/>
          <p:cNvGrpSpPr/>
          <p:nvPr/>
        </p:nvGrpSpPr>
        <p:grpSpPr>
          <a:xfrm>
            <a:off x="230075" y="132761"/>
            <a:ext cx="9293451" cy="6916590"/>
            <a:chOff x="0" y="-28575"/>
            <a:chExt cx="3442019" cy="2561700"/>
          </a:xfrm>
        </p:grpSpPr>
        <p:sp>
          <p:nvSpPr>
            <p:cNvPr id="202" name="Google Shape;202;p25"/>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203" name="Google Shape;203;p25"/>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4" name="Google Shape;204;p25"/>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5" name="Google Shape;205;p25" title="Screenshot 2026-03-19 at 2.41.19 PM.png"/>
          <p:cNvPicPr preferRelativeResize="0"/>
          <p:nvPr/>
        </p:nvPicPr>
        <p:blipFill rotWithShape="1">
          <a:blip r:embed="rId3">
            <a:alphaModFix/>
          </a:blip>
          <a:srcRect b="0" l="0" r="0" t="0"/>
          <a:stretch/>
        </p:blipFill>
        <p:spPr>
          <a:xfrm>
            <a:off x="641863" y="669150"/>
            <a:ext cx="8469873" cy="4825899"/>
          </a:xfrm>
          <a:prstGeom prst="rect">
            <a:avLst/>
          </a:prstGeom>
          <a:noFill/>
          <a:ln>
            <a:noFill/>
          </a:ln>
        </p:spPr>
      </p:pic>
      <p:sp>
        <p:nvSpPr>
          <p:cNvPr id="206" name="Google Shape;206;p25"/>
          <p:cNvSpPr txBox="1"/>
          <p:nvPr/>
        </p:nvSpPr>
        <p:spPr>
          <a:xfrm>
            <a:off x="1453350" y="5690775"/>
            <a:ext cx="6846900" cy="618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Peak Realized Gain for Single Element</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10" name="Shape 210"/>
        <p:cNvGrpSpPr/>
        <p:nvPr/>
      </p:nvGrpSpPr>
      <p:grpSpPr>
        <a:xfrm>
          <a:off x="0" y="0"/>
          <a:ext cx="0" cy="0"/>
          <a:chOff x="0" y="0"/>
          <a:chExt cx="0" cy="0"/>
        </a:xfrm>
      </p:grpSpPr>
      <p:grpSp>
        <p:nvGrpSpPr>
          <p:cNvPr id="211" name="Google Shape;211;p26"/>
          <p:cNvGrpSpPr/>
          <p:nvPr/>
        </p:nvGrpSpPr>
        <p:grpSpPr>
          <a:xfrm>
            <a:off x="230075" y="160789"/>
            <a:ext cx="9293451" cy="6916590"/>
            <a:chOff x="0" y="-28575"/>
            <a:chExt cx="3442019" cy="2561700"/>
          </a:xfrm>
        </p:grpSpPr>
        <p:sp>
          <p:nvSpPr>
            <p:cNvPr id="212" name="Google Shape;212;p26"/>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213" name="Google Shape;213;p26"/>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4" name="Google Shape;214;p26"/>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5" name="Google Shape;215;p26" title="Screenshot 2026-03-16 at 11.28.01 PM.png"/>
          <p:cNvPicPr preferRelativeResize="0"/>
          <p:nvPr/>
        </p:nvPicPr>
        <p:blipFill rotWithShape="1">
          <a:blip r:embed="rId3">
            <a:alphaModFix/>
          </a:blip>
          <a:srcRect b="0" l="0" r="0" t="0"/>
          <a:stretch/>
        </p:blipFill>
        <p:spPr>
          <a:xfrm>
            <a:off x="626438" y="721850"/>
            <a:ext cx="8500726" cy="4953874"/>
          </a:xfrm>
          <a:prstGeom prst="rect">
            <a:avLst/>
          </a:prstGeom>
          <a:noFill/>
          <a:ln>
            <a:noFill/>
          </a:ln>
        </p:spPr>
      </p:pic>
      <p:sp>
        <p:nvSpPr>
          <p:cNvPr id="216" name="Google Shape;216;p26"/>
          <p:cNvSpPr txBox="1"/>
          <p:nvPr/>
        </p:nvSpPr>
        <p:spPr>
          <a:xfrm>
            <a:off x="3106700" y="5957325"/>
            <a:ext cx="4128600" cy="565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S11 &amp; S21 Parameter</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20" name="Shape 220"/>
        <p:cNvGrpSpPr/>
        <p:nvPr/>
      </p:nvGrpSpPr>
      <p:grpSpPr>
        <a:xfrm>
          <a:off x="0" y="0"/>
          <a:ext cx="0" cy="0"/>
          <a:chOff x="0" y="0"/>
          <a:chExt cx="0" cy="0"/>
        </a:xfrm>
      </p:grpSpPr>
      <p:grpSp>
        <p:nvGrpSpPr>
          <p:cNvPr id="221" name="Google Shape;221;p27"/>
          <p:cNvGrpSpPr/>
          <p:nvPr/>
        </p:nvGrpSpPr>
        <p:grpSpPr>
          <a:xfrm>
            <a:off x="230075" y="160789"/>
            <a:ext cx="9293451" cy="6916590"/>
            <a:chOff x="0" y="-28575"/>
            <a:chExt cx="3442019" cy="2561700"/>
          </a:xfrm>
        </p:grpSpPr>
        <p:sp>
          <p:nvSpPr>
            <p:cNvPr id="222" name="Google Shape;222;p27"/>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223" name="Google Shape;223;p27"/>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27"/>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5" name="Google Shape;225;p27" title="Screenshot 2026-03-16 163844.png"/>
          <p:cNvPicPr preferRelativeResize="0"/>
          <p:nvPr/>
        </p:nvPicPr>
        <p:blipFill rotWithShape="1">
          <a:blip r:embed="rId3">
            <a:alphaModFix/>
          </a:blip>
          <a:srcRect b="0" l="0" r="0" t="0"/>
          <a:stretch/>
        </p:blipFill>
        <p:spPr>
          <a:xfrm>
            <a:off x="602600" y="488875"/>
            <a:ext cx="8506374" cy="5677201"/>
          </a:xfrm>
          <a:prstGeom prst="rect">
            <a:avLst/>
          </a:prstGeom>
          <a:noFill/>
          <a:ln>
            <a:noFill/>
          </a:ln>
        </p:spPr>
      </p:pic>
      <p:sp>
        <p:nvSpPr>
          <p:cNvPr id="226" name="Google Shape;226;p27"/>
          <p:cNvSpPr txBox="1"/>
          <p:nvPr/>
        </p:nvSpPr>
        <p:spPr>
          <a:xfrm>
            <a:off x="3156775" y="6328700"/>
            <a:ext cx="4340700" cy="5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Times New Roman"/>
                <a:ea typeface="Times New Roman"/>
                <a:cs typeface="Times New Roman"/>
                <a:sym typeface="Times New Roman"/>
              </a:rPr>
              <a:t>Radiation Pattern E-Plane</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30" name="Shape 230"/>
        <p:cNvGrpSpPr/>
        <p:nvPr/>
      </p:nvGrpSpPr>
      <p:grpSpPr>
        <a:xfrm>
          <a:off x="0" y="0"/>
          <a:ext cx="0" cy="0"/>
          <a:chOff x="0" y="0"/>
          <a:chExt cx="0" cy="0"/>
        </a:xfrm>
      </p:grpSpPr>
      <p:grpSp>
        <p:nvGrpSpPr>
          <p:cNvPr id="231" name="Google Shape;231;p28"/>
          <p:cNvGrpSpPr/>
          <p:nvPr/>
        </p:nvGrpSpPr>
        <p:grpSpPr>
          <a:xfrm>
            <a:off x="230075" y="160789"/>
            <a:ext cx="9293451" cy="6916590"/>
            <a:chOff x="0" y="-28575"/>
            <a:chExt cx="3442019" cy="2561700"/>
          </a:xfrm>
        </p:grpSpPr>
        <p:sp>
          <p:nvSpPr>
            <p:cNvPr id="232" name="Google Shape;232;p28"/>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233" name="Google Shape;233;p28"/>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4" name="Google Shape;234;p28"/>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5" name="Google Shape;235;p28" title="Screenshot 2026-03-16 163921.png"/>
          <p:cNvPicPr preferRelativeResize="0"/>
          <p:nvPr/>
        </p:nvPicPr>
        <p:blipFill rotWithShape="1">
          <a:blip r:embed="rId3">
            <a:alphaModFix/>
          </a:blip>
          <a:srcRect b="0" l="0" r="0" t="0"/>
          <a:stretch/>
        </p:blipFill>
        <p:spPr>
          <a:xfrm>
            <a:off x="681775" y="645925"/>
            <a:ext cx="8373000" cy="5411550"/>
          </a:xfrm>
          <a:prstGeom prst="rect">
            <a:avLst/>
          </a:prstGeom>
          <a:noFill/>
          <a:ln>
            <a:noFill/>
          </a:ln>
        </p:spPr>
      </p:pic>
      <p:sp>
        <p:nvSpPr>
          <p:cNvPr id="236" name="Google Shape;236;p28"/>
          <p:cNvSpPr txBox="1"/>
          <p:nvPr/>
        </p:nvSpPr>
        <p:spPr>
          <a:xfrm>
            <a:off x="3156775" y="6328700"/>
            <a:ext cx="4340700" cy="531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Times New Roman"/>
                <a:ea typeface="Times New Roman"/>
                <a:cs typeface="Times New Roman"/>
                <a:sym typeface="Times New Roman"/>
              </a:rPr>
              <a:t>Radiation Pattern H-Plane</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40" name="Shape 240"/>
        <p:cNvGrpSpPr/>
        <p:nvPr/>
      </p:nvGrpSpPr>
      <p:grpSpPr>
        <a:xfrm>
          <a:off x="0" y="0"/>
          <a:ext cx="0" cy="0"/>
          <a:chOff x="0" y="0"/>
          <a:chExt cx="0" cy="0"/>
        </a:xfrm>
      </p:grpSpPr>
      <p:grpSp>
        <p:nvGrpSpPr>
          <p:cNvPr id="241" name="Google Shape;241;p29"/>
          <p:cNvGrpSpPr/>
          <p:nvPr/>
        </p:nvGrpSpPr>
        <p:grpSpPr>
          <a:xfrm>
            <a:off x="230075" y="160789"/>
            <a:ext cx="9293451" cy="6916590"/>
            <a:chOff x="0" y="-28575"/>
            <a:chExt cx="3442019" cy="2561700"/>
          </a:xfrm>
        </p:grpSpPr>
        <p:sp>
          <p:nvSpPr>
            <p:cNvPr id="242" name="Google Shape;242;p29"/>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243" name="Google Shape;243;p29"/>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4" name="Google Shape;244;p29"/>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5" name="Google Shape;245;p29" title="Screenshot 2026-03-16 163728.png"/>
          <p:cNvPicPr preferRelativeResize="0"/>
          <p:nvPr/>
        </p:nvPicPr>
        <p:blipFill rotWithShape="1">
          <a:blip r:embed="rId3">
            <a:alphaModFix/>
          </a:blip>
          <a:srcRect b="0" l="0" r="0" t="0"/>
          <a:stretch/>
        </p:blipFill>
        <p:spPr>
          <a:xfrm>
            <a:off x="449050" y="409775"/>
            <a:ext cx="8838425" cy="5606025"/>
          </a:xfrm>
          <a:prstGeom prst="rect">
            <a:avLst/>
          </a:prstGeom>
          <a:noFill/>
          <a:ln>
            <a:noFill/>
          </a:ln>
        </p:spPr>
      </p:pic>
      <p:sp>
        <p:nvSpPr>
          <p:cNvPr id="246" name="Google Shape;246;p29"/>
          <p:cNvSpPr txBox="1"/>
          <p:nvPr/>
        </p:nvSpPr>
        <p:spPr>
          <a:xfrm>
            <a:off x="3586425" y="6206425"/>
            <a:ext cx="3357900" cy="548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Times New Roman"/>
                <a:ea typeface="Times New Roman"/>
                <a:cs typeface="Times New Roman"/>
                <a:sym typeface="Times New Roman"/>
              </a:rPr>
              <a:t>3D - Gain Plot</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50" name="Shape 250"/>
        <p:cNvGrpSpPr/>
        <p:nvPr/>
      </p:nvGrpSpPr>
      <p:grpSpPr>
        <a:xfrm>
          <a:off x="0" y="0"/>
          <a:ext cx="0" cy="0"/>
          <a:chOff x="0" y="0"/>
          <a:chExt cx="0" cy="0"/>
        </a:xfrm>
      </p:grpSpPr>
      <p:grpSp>
        <p:nvGrpSpPr>
          <p:cNvPr id="251" name="Google Shape;251;p30"/>
          <p:cNvGrpSpPr/>
          <p:nvPr/>
        </p:nvGrpSpPr>
        <p:grpSpPr>
          <a:xfrm>
            <a:off x="230075" y="160789"/>
            <a:ext cx="9293451" cy="6916590"/>
            <a:chOff x="0" y="-28575"/>
            <a:chExt cx="3442019" cy="2561700"/>
          </a:xfrm>
        </p:grpSpPr>
        <p:sp>
          <p:nvSpPr>
            <p:cNvPr id="252" name="Google Shape;252;p30"/>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253" name="Google Shape;253;p30"/>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4" name="Google Shape;254;p30"/>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5" name="Google Shape;255;p30" title="Screenshot 2026-03-23 at 5.09.01 PM.png"/>
          <p:cNvPicPr preferRelativeResize="0"/>
          <p:nvPr/>
        </p:nvPicPr>
        <p:blipFill rotWithShape="1">
          <a:blip r:embed="rId3">
            <a:alphaModFix/>
          </a:blip>
          <a:srcRect b="0" l="0" r="0" t="0"/>
          <a:stretch/>
        </p:blipFill>
        <p:spPr>
          <a:xfrm>
            <a:off x="621238" y="669150"/>
            <a:ext cx="8494049" cy="4549076"/>
          </a:xfrm>
          <a:prstGeom prst="rect">
            <a:avLst/>
          </a:prstGeom>
          <a:noFill/>
          <a:ln>
            <a:noFill/>
          </a:ln>
        </p:spPr>
      </p:pic>
      <p:sp>
        <p:nvSpPr>
          <p:cNvPr id="256" name="Google Shape;256;p30"/>
          <p:cNvSpPr txBox="1"/>
          <p:nvPr/>
        </p:nvSpPr>
        <p:spPr>
          <a:xfrm>
            <a:off x="3824550" y="5418100"/>
            <a:ext cx="2337300" cy="698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ECC</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60" name="Shape 260"/>
        <p:cNvGrpSpPr/>
        <p:nvPr/>
      </p:nvGrpSpPr>
      <p:grpSpPr>
        <a:xfrm>
          <a:off x="0" y="0"/>
          <a:ext cx="0" cy="0"/>
          <a:chOff x="0" y="0"/>
          <a:chExt cx="0" cy="0"/>
        </a:xfrm>
      </p:grpSpPr>
      <p:grpSp>
        <p:nvGrpSpPr>
          <p:cNvPr id="261" name="Google Shape;261;p31"/>
          <p:cNvGrpSpPr/>
          <p:nvPr/>
        </p:nvGrpSpPr>
        <p:grpSpPr>
          <a:xfrm>
            <a:off x="230075" y="160789"/>
            <a:ext cx="9293451" cy="6916590"/>
            <a:chOff x="0" y="-28575"/>
            <a:chExt cx="3442019" cy="2561700"/>
          </a:xfrm>
        </p:grpSpPr>
        <p:sp>
          <p:nvSpPr>
            <p:cNvPr id="262" name="Google Shape;262;p31"/>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263" name="Google Shape;263;p31"/>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4" name="Google Shape;264;p31"/>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5" name="Google Shape;265;p31" title="Screenshot 2026-03-19 at 3.53.15 PM.png"/>
          <p:cNvPicPr preferRelativeResize="0"/>
          <p:nvPr/>
        </p:nvPicPr>
        <p:blipFill rotWithShape="1">
          <a:blip r:embed="rId3">
            <a:alphaModFix/>
          </a:blip>
          <a:srcRect b="0" l="0" r="0" t="0"/>
          <a:stretch/>
        </p:blipFill>
        <p:spPr>
          <a:xfrm>
            <a:off x="674150" y="701450"/>
            <a:ext cx="8405299" cy="4664425"/>
          </a:xfrm>
          <a:prstGeom prst="rect">
            <a:avLst/>
          </a:prstGeom>
          <a:noFill/>
          <a:ln>
            <a:noFill/>
          </a:ln>
        </p:spPr>
      </p:pic>
      <p:sp>
        <p:nvSpPr>
          <p:cNvPr id="266" name="Google Shape;266;p31"/>
          <p:cNvSpPr txBox="1"/>
          <p:nvPr/>
        </p:nvSpPr>
        <p:spPr>
          <a:xfrm>
            <a:off x="3336300" y="5590900"/>
            <a:ext cx="3081000" cy="65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libri"/>
                <a:ea typeface="Calibri"/>
                <a:cs typeface="Calibri"/>
                <a:sym typeface="Calibri"/>
              </a:rPr>
              <a:t>         </a:t>
            </a:r>
            <a:r>
              <a:rPr b="0" i="0" lang="en-US" sz="32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Times New Roman"/>
                <a:ea typeface="Times New Roman"/>
                <a:cs typeface="Times New Roman"/>
                <a:sym typeface="Times New Roman"/>
              </a:rPr>
              <a:t>VSWR</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70" name="Shape 270"/>
        <p:cNvGrpSpPr/>
        <p:nvPr/>
      </p:nvGrpSpPr>
      <p:grpSpPr>
        <a:xfrm>
          <a:off x="0" y="0"/>
          <a:ext cx="0" cy="0"/>
          <a:chOff x="0" y="0"/>
          <a:chExt cx="0" cy="0"/>
        </a:xfrm>
      </p:grpSpPr>
      <p:grpSp>
        <p:nvGrpSpPr>
          <p:cNvPr id="271" name="Google Shape;271;p32"/>
          <p:cNvGrpSpPr/>
          <p:nvPr/>
        </p:nvGrpSpPr>
        <p:grpSpPr>
          <a:xfrm>
            <a:off x="230075" y="160789"/>
            <a:ext cx="9293451" cy="6916590"/>
            <a:chOff x="0" y="-28575"/>
            <a:chExt cx="3442019" cy="2561700"/>
          </a:xfrm>
        </p:grpSpPr>
        <p:sp>
          <p:nvSpPr>
            <p:cNvPr id="272" name="Google Shape;272;p32"/>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273" name="Google Shape;273;p32"/>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4" name="Google Shape;274;p32"/>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2"/>
          <p:cNvSpPr txBox="1"/>
          <p:nvPr/>
        </p:nvSpPr>
        <p:spPr>
          <a:xfrm>
            <a:off x="714700" y="728725"/>
            <a:ext cx="8324100" cy="591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475E6F"/>
                </a:solidFill>
                <a:latin typeface="Times New Roman"/>
                <a:ea typeface="Times New Roman"/>
                <a:cs typeface="Times New Roman"/>
                <a:sym typeface="Times New Roman"/>
              </a:rPr>
              <a:t>COMPARISON TABLE</a:t>
            </a:r>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475E6F"/>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475E6F"/>
              </a:solidFill>
              <a:latin typeface="Times New Roman"/>
              <a:ea typeface="Times New Roman"/>
              <a:cs typeface="Times New Roman"/>
              <a:sym typeface="Times New Roman"/>
            </a:endParaRPr>
          </a:p>
        </p:txBody>
      </p:sp>
      <p:graphicFrame>
        <p:nvGraphicFramePr>
          <p:cNvPr id="276" name="Google Shape;276;p32"/>
          <p:cNvGraphicFramePr/>
          <p:nvPr/>
        </p:nvGraphicFramePr>
        <p:xfrm>
          <a:off x="998483" y="1324303"/>
          <a:ext cx="3000000" cy="3000000"/>
        </p:xfrm>
        <a:graphic>
          <a:graphicData uri="http://schemas.openxmlformats.org/drawingml/2006/table">
            <a:tbl>
              <a:tblPr bandRow="1" firstRow="1">
                <a:noFill/>
                <a:tableStyleId>{6E1E3CCC-242B-4FF3-A642-9CAC1C61C8A4}</a:tableStyleId>
              </a:tblPr>
              <a:tblGrid>
                <a:gridCol w="1296275"/>
                <a:gridCol w="1296275"/>
                <a:gridCol w="1296275"/>
                <a:gridCol w="1296275"/>
                <a:gridCol w="1296275"/>
                <a:gridCol w="1296275"/>
              </a:tblGrid>
              <a:tr h="756325">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Ref No.</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Area</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Frequency Band</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Gain</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Isolation </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ECC</a:t>
                      </a:r>
                      <a:endParaRPr/>
                    </a:p>
                    <a:p>
                      <a:pPr indent="0" lvl="0" marL="0" marR="0" rtl="0" algn="ctr">
                        <a:lnSpc>
                          <a:spcPct val="100000"/>
                        </a:lnSpc>
                        <a:spcBef>
                          <a:spcPts val="0"/>
                        </a:spcBef>
                        <a:spcAft>
                          <a:spcPts val="0"/>
                        </a:spcAft>
                        <a:buNone/>
                      </a:pPr>
                      <a:r>
                        <a:t/>
                      </a:r>
                      <a:endParaRPr sz="1400" u="none" cap="none" strike="noStrike">
                        <a:latin typeface="Times New Roman"/>
                        <a:ea typeface="Times New Roman"/>
                        <a:cs typeface="Times New Roman"/>
                        <a:sym typeface="Times New Roman"/>
                      </a:endParaRPr>
                    </a:p>
                  </a:txBody>
                  <a:tcPr marT="45725" marB="45725" marR="91450" marL="91450" anchor="ctr"/>
                </a:tc>
              </a:tr>
              <a:tr h="756325">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140x135</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3.5</a:t>
                      </a:r>
                      <a:endParaRPr/>
                    </a:p>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5.8</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7.66</a:t>
                      </a:r>
                      <a:endParaRPr/>
                    </a:p>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7.84</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0.02</a:t>
                      </a:r>
                      <a:endParaRPr/>
                    </a:p>
                  </a:txBody>
                  <a:tcPr marT="45725" marB="45725" marR="91450" marL="91450" anchor="ctr"/>
                </a:tc>
              </a:tr>
              <a:tr h="756325">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40x40</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3.2</a:t>
                      </a:r>
                      <a:endParaRPr/>
                    </a:p>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5.75</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9</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&gt;22</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&lt;0.05</a:t>
                      </a:r>
                      <a:endParaRPr/>
                    </a:p>
                  </a:txBody>
                  <a:tcPr marT="45725" marB="45725" marR="91450" marL="91450" anchor="ctr"/>
                </a:tc>
              </a:tr>
              <a:tr h="541300">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160x70</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5.6-5.67</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2.4</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&gt;30</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0.02</a:t>
                      </a:r>
                      <a:endParaRPr/>
                    </a:p>
                  </a:txBody>
                  <a:tcPr marT="45725" marB="45725" marR="91450" marL="91450" anchor="ctr"/>
                </a:tc>
              </a:tr>
              <a:tr h="541300">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[4]</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60x60</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3.4-3.8</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4.5</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&gt;19</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&lt;0.12</a:t>
                      </a:r>
                      <a:endParaRPr/>
                    </a:p>
                  </a:txBody>
                  <a:tcPr marT="45725" marB="45725" marR="91450" marL="91450" anchor="ctr"/>
                </a:tc>
              </a:tr>
              <a:tr h="612975">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73.5x42</a:t>
                      </a:r>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3.4-3.6</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5.4</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&gt;16</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&lt;0.03</a:t>
                      </a:r>
                      <a:endParaRPr/>
                    </a:p>
                  </a:txBody>
                  <a:tcPr marT="45725" marB="45725" marR="91450" marL="91450" anchor="ctr"/>
                </a:tc>
              </a:tr>
              <a:tr h="541300">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[7]</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120x60</a:t>
                      </a:r>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3.33-5.66</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&lt;0.26</a:t>
                      </a:r>
                      <a:endParaRPr/>
                    </a:p>
                  </a:txBody>
                  <a:tcPr marT="45725" marB="45725" marR="91450" marL="91450" anchor="ctr"/>
                </a:tc>
              </a:tr>
              <a:tr h="756325">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Proposed Work</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60x33</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3.9-6</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3.9</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&gt;21</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0.0001</a:t>
                      </a:r>
                      <a:endParaRPr/>
                    </a:p>
                  </a:txBody>
                  <a:tcPr marT="45725" marB="45725" marR="91450" marL="91450" anchor="ct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80" name="Shape 280"/>
        <p:cNvGrpSpPr/>
        <p:nvPr/>
      </p:nvGrpSpPr>
      <p:grpSpPr>
        <a:xfrm>
          <a:off x="0" y="0"/>
          <a:ext cx="0" cy="0"/>
          <a:chOff x="0" y="0"/>
          <a:chExt cx="0" cy="0"/>
        </a:xfrm>
      </p:grpSpPr>
      <p:grpSp>
        <p:nvGrpSpPr>
          <p:cNvPr id="281" name="Google Shape;281;p33"/>
          <p:cNvGrpSpPr/>
          <p:nvPr/>
        </p:nvGrpSpPr>
        <p:grpSpPr>
          <a:xfrm>
            <a:off x="230075" y="160789"/>
            <a:ext cx="9293451" cy="6916590"/>
            <a:chOff x="0" y="-28575"/>
            <a:chExt cx="3442019" cy="2561700"/>
          </a:xfrm>
        </p:grpSpPr>
        <p:sp>
          <p:nvSpPr>
            <p:cNvPr id="282" name="Google Shape;282;p33"/>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283" name="Google Shape;283;p33"/>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4" name="Google Shape;284;p33"/>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33"/>
          <p:cNvSpPr txBox="1"/>
          <p:nvPr/>
        </p:nvSpPr>
        <p:spPr>
          <a:xfrm>
            <a:off x="616600" y="560550"/>
            <a:ext cx="8534400" cy="61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475E6F"/>
                </a:solidFill>
                <a:latin typeface="Times New Roman"/>
                <a:ea typeface="Times New Roman"/>
                <a:cs typeface="Times New Roman"/>
                <a:sym typeface="Times New Roman"/>
              </a:rPr>
              <a:t>CONCLUSION</a:t>
            </a:r>
            <a:endParaRPr b="1" i="0" sz="2400" u="none" cap="none" strike="noStrike">
              <a:solidFill>
                <a:srgbClr val="475E6F"/>
              </a:solidFill>
              <a:latin typeface="Times New Roman"/>
              <a:ea typeface="Times New Roman"/>
              <a:cs typeface="Times New Roman"/>
              <a:sym typeface="Times New Roman"/>
            </a:endParaRPr>
          </a:p>
        </p:txBody>
      </p:sp>
      <p:sp>
        <p:nvSpPr>
          <p:cNvPr id="286" name="Google Shape;286;p33"/>
          <p:cNvSpPr txBox="1"/>
          <p:nvPr>
            <p:ph idx="1" type="body"/>
          </p:nvPr>
        </p:nvSpPr>
        <p:spPr>
          <a:xfrm>
            <a:off x="753463" y="1633900"/>
            <a:ext cx="8229600" cy="4526100"/>
          </a:xfrm>
          <a:prstGeom prst="rect">
            <a:avLst/>
          </a:prstGeom>
          <a:noFill/>
          <a:ln>
            <a:noFill/>
          </a:ln>
        </p:spPr>
        <p:txBody>
          <a:bodyPr anchorCtr="0" anchor="t" bIns="45700" lIns="91425" spcFirstLastPara="1" rIns="91425" wrap="square" tIns="45700">
            <a:noAutofit/>
          </a:bodyPr>
          <a:lstStyle/>
          <a:p>
            <a:pPr indent="0" lvl="0" marL="114300" rtl="0" algn="just">
              <a:lnSpc>
                <a:spcPct val="100000"/>
              </a:lnSpc>
              <a:spcBef>
                <a:spcPts val="360"/>
              </a:spcBef>
              <a:spcAft>
                <a:spcPts val="0"/>
              </a:spcAft>
              <a:buSzPts val="1800"/>
              <a:buNone/>
            </a:pPr>
            <a:r>
              <a:rPr lang="en-US" sz="2400">
                <a:latin typeface="Times New Roman"/>
                <a:ea typeface="Times New Roman"/>
                <a:cs typeface="Times New Roman"/>
                <a:sym typeface="Times New Roman"/>
              </a:rPr>
              <a:t>A space-efficient, two port MIMO radiator designed for Sub-6GHz 5G applications is proposed in this paper. The proposed design achieves broad operating bandwidth from 3.9–6 GHz together with strong port isolation (&gt;21 dB), low correlation, and stable radiation behavior within a compact 60 × 33 mm² footprint. </a:t>
            </a:r>
            <a:endParaRPr/>
          </a:p>
          <a:p>
            <a:pPr indent="0" lvl="0" marL="114300" rtl="0" algn="just">
              <a:lnSpc>
                <a:spcPct val="100000"/>
              </a:lnSpc>
              <a:spcBef>
                <a:spcPts val="360"/>
              </a:spcBef>
              <a:spcAft>
                <a:spcPts val="0"/>
              </a:spcAft>
              <a:buSzPts val="1800"/>
              <a:buNone/>
            </a:pPr>
            <a:r>
              <a:rPr lang="en-US" sz="2400">
                <a:latin typeface="Times New Roman"/>
                <a:ea typeface="Times New Roman"/>
                <a:cs typeface="Times New Roman"/>
                <a:sym typeface="Times New Roman"/>
              </a:rPr>
              <a:t>Compared with related reported designs, the antenna offers an effective tradeoff between size,bandwidth, isolation, and diversity performance, with particularly strong ECC performance (ECC ≈ 0.0001). These characteristics make it a promising candidate for compact handheld 5G terminals. Future work will focus on fabrication and measurement-based validation of the proposed design.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90" name="Shape 290"/>
        <p:cNvGrpSpPr/>
        <p:nvPr/>
      </p:nvGrpSpPr>
      <p:grpSpPr>
        <a:xfrm>
          <a:off x="0" y="0"/>
          <a:ext cx="0" cy="0"/>
          <a:chOff x="0" y="0"/>
          <a:chExt cx="0" cy="0"/>
        </a:xfrm>
      </p:grpSpPr>
      <p:grpSp>
        <p:nvGrpSpPr>
          <p:cNvPr id="291" name="Google Shape;291;p34"/>
          <p:cNvGrpSpPr/>
          <p:nvPr/>
        </p:nvGrpSpPr>
        <p:grpSpPr>
          <a:xfrm>
            <a:off x="230075" y="160788"/>
            <a:ext cx="9293450" cy="6916472"/>
            <a:chOff x="0" y="-28575"/>
            <a:chExt cx="3442019" cy="2561656"/>
          </a:xfrm>
        </p:grpSpPr>
        <p:sp>
          <p:nvSpPr>
            <p:cNvPr id="292" name="Google Shape;292;p34"/>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293" name="Google Shape;293;p34"/>
            <p:cNvSpPr txBox="1"/>
            <p:nvPr/>
          </p:nvSpPr>
          <p:spPr>
            <a:xfrm>
              <a:off x="0" y="-28575"/>
              <a:ext cx="3442019" cy="2561656"/>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4" name="Google Shape;294;p34"/>
          <p:cNvSpPr/>
          <p:nvPr/>
        </p:nvSpPr>
        <p:spPr>
          <a:xfrm>
            <a:off x="418854" y="409766"/>
            <a:ext cx="8915892" cy="6494445"/>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4"/>
          <p:cNvSpPr txBox="1"/>
          <p:nvPr/>
        </p:nvSpPr>
        <p:spPr>
          <a:xfrm>
            <a:off x="651600" y="712475"/>
            <a:ext cx="8467200" cy="6497484"/>
          </a:xfrm>
          <a:prstGeom prst="rect">
            <a:avLst/>
          </a:prstGeom>
          <a:noFill/>
          <a:ln>
            <a:noFill/>
          </a:ln>
        </p:spPr>
        <p:txBody>
          <a:bodyPr anchorCtr="0" anchor="t" bIns="0" lIns="0" spcFirstLastPara="1" rIns="0" wrap="square" tIns="0">
            <a:spAutoFit/>
          </a:bodyPr>
          <a:lstStyle/>
          <a:p>
            <a:pPr indent="0" lvl="0" marL="0" marR="0" rtl="0" algn="ctr">
              <a:lnSpc>
                <a:spcPct val="120009"/>
              </a:lnSpc>
              <a:spcBef>
                <a:spcPts val="0"/>
              </a:spcBef>
              <a:spcAft>
                <a:spcPts val="0"/>
              </a:spcAft>
              <a:buClr>
                <a:srgbClr val="000000"/>
              </a:buClr>
              <a:buSzPts val="2429"/>
              <a:buFont typeface="Arial"/>
              <a:buNone/>
            </a:pPr>
            <a:r>
              <a:rPr b="1" i="0" lang="en-US" sz="2429" u="none" cap="none" strike="noStrike">
                <a:solidFill>
                  <a:srgbClr val="475E6F"/>
                </a:solidFill>
                <a:latin typeface="Times New Roman"/>
                <a:ea typeface="Times New Roman"/>
                <a:cs typeface="Times New Roman"/>
                <a:sym typeface="Times New Roman"/>
              </a:rPr>
              <a:t>REFERENCES</a:t>
            </a:r>
            <a:endParaRPr b="1" i="0" sz="1700" u="none" cap="none" strike="noStrike">
              <a:solidFill>
                <a:srgbClr val="000000"/>
              </a:solidFill>
              <a:latin typeface="Arial"/>
              <a:ea typeface="Arial"/>
              <a:cs typeface="Arial"/>
              <a:sym typeface="Arial"/>
            </a:endParaRPr>
          </a:p>
          <a:p>
            <a:pPr indent="0" lvl="0" marL="0" marR="0" rtl="0" algn="just">
              <a:lnSpc>
                <a:spcPct val="101456"/>
              </a:lnSpc>
              <a:spcBef>
                <a:spcPts val="0"/>
              </a:spcBef>
              <a:spcAft>
                <a:spcPts val="0"/>
              </a:spcAft>
              <a:buClr>
                <a:srgbClr val="000000"/>
              </a:buClr>
              <a:buSzPts val="2129"/>
              <a:buFont typeface="Arial"/>
              <a:buNone/>
            </a:pPr>
            <a:r>
              <a:t/>
            </a:r>
            <a:endParaRPr b="0" i="0" sz="2129" u="none" cap="none" strike="noStrike">
              <a:solidFill>
                <a:srgbClr val="475E6F"/>
              </a:solidFill>
              <a:latin typeface="Times New Roman"/>
              <a:ea typeface="Times New Roman"/>
              <a:cs typeface="Times New Roman"/>
              <a:sym typeface="Times New Roman"/>
            </a:endParaRPr>
          </a:p>
          <a:p>
            <a:pPr indent="-336550" lvl="0" marL="457200" marR="0" rtl="0" algn="just">
              <a:lnSpc>
                <a:spcPct val="115000"/>
              </a:lnSpc>
              <a:spcBef>
                <a:spcPts val="0"/>
              </a:spcBef>
              <a:spcAft>
                <a:spcPts val="0"/>
              </a:spcAft>
              <a:buClr>
                <a:schemeClr val="dk1"/>
              </a:buClr>
              <a:buSzPts val="1700"/>
              <a:buFont typeface="Times New Roman"/>
              <a:buAutoNum type="arabicPeriod"/>
            </a:pPr>
            <a:r>
              <a:rPr b="0" i="0" lang="en-US" sz="1700" u="none" cap="none" strike="noStrike">
                <a:solidFill>
                  <a:schemeClr val="dk1"/>
                </a:solidFill>
                <a:latin typeface="Times New Roman"/>
                <a:ea typeface="Times New Roman"/>
                <a:cs typeface="Times New Roman"/>
                <a:sym typeface="Times New Roman"/>
              </a:rPr>
              <a:t>I. Ahmed, A. M. Ameen, A. Magdy, A. Nasser, and M. Abo-Zahhad, “A Sub-6GHz two-port crescent MIMO array antenna for 5G applications,” Electronics, vol. 14, no. 3, p. 411, 2025, doi:10.3390/electronics14030411.</a:t>
            </a:r>
            <a:endParaRPr/>
          </a:p>
          <a:p>
            <a:pPr indent="-336550" lvl="0" marL="457200" marR="0" rtl="0" algn="just">
              <a:lnSpc>
                <a:spcPct val="115000"/>
              </a:lnSpc>
              <a:spcBef>
                <a:spcPts val="0"/>
              </a:spcBef>
              <a:spcAft>
                <a:spcPts val="0"/>
              </a:spcAft>
              <a:buClr>
                <a:schemeClr val="dk1"/>
              </a:buClr>
              <a:buSzPts val="1700"/>
              <a:buFont typeface="Times New Roman"/>
              <a:buAutoNum type="arabicPeriod"/>
            </a:pPr>
            <a:r>
              <a:rPr b="0" i="0" lang="en-US" sz="1700" u="none" cap="none" strike="noStrike">
                <a:solidFill>
                  <a:schemeClr val="dk1"/>
                </a:solidFill>
                <a:latin typeface="Times New Roman"/>
                <a:ea typeface="Times New Roman"/>
                <a:cs typeface="Times New Roman"/>
                <a:sym typeface="Times New Roman"/>
              </a:rPr>
              <a:t>A. A. Megahed, M. Abdelazim, E. H. AbdelHay, and H. Y. M. Soliman, “Sub-6GHz highly isolated wideband MIMO antenna arrays,” IEEE Access, vol. 10, pp. 19875–19889, 2022, doi:10.1109/ACCESS.2022.3150278.</a:t>
            </a:r>
            <a:endParaRPr/>
          </a:p>
          <a:p>
            <a:pPr indent="-336550" lvl="0" marL="457200" marR="0" rtl="0" algn="just">
              <a:lnSpc>
                <a:spcPct val="115000"/>
              </a:lnSpc>
              <a:spcBef>
                <a:spcPts val="0"/>
              </a:spcBef>
              <a:spcAft>
                <a:spcPts val="0"/>
              </a:spcAft>
              <a:buClr>
                <a:schemeClr val="dk1"/>
              </a:buClr>
              <a:buSzPts val="1700"/>
              <a:buFont typeface="Times New Roman"/>
              <a:buAutoNum type="arabicPeriod"/>
            </a:pPr>
            <a:r>
              <a:rPr b="0" i="0" lang="en-US" sz="1700" u="none" cap="none" strike="noStrike">
                <a:solidFill>
                  <a:schemeClr val="dk1"/>
                </a:solidFill>
                <a:latin typeface="Times New Roman"/>
                <a:ea typeface="Times New Roman"/>
                <a:cs typeface="Times New Roman"/>
                <a:sym typeface="Times New Roman"/>
              </a:rPr>
              <a:t>J. Khan, S. Ullah, F. A. Tahir, F. Tubbal, and R. Raad, “A Sub-6GHz MIMO antenna array for 5G wireless terminals,” Electronics, vol. 10, no. 24, p. 3062, 2021, doi: 10.3390/electronics1024306.</a:t>
            </a:r>
            <a:endParaRPr/>
          </a:p>
          <a:p>
            <a:pPr indent="-336550" lvl="0" marL="457200" marR="0" rtl="0" algn="just">
              <a:lnSpc>
                <a:spcPct val="115000"/>
              </a:lnSpc>
              <a:spcBef>
                <a:spcPts val="0"/>
              </a:spcBef>
              <a:spcAft>
                <a:spcPts val="0"/>
              </a:spcAft>
              <a:buClr>
                <a:schemeClr val="dk1"/>
              </a:buClr>
              <a:buSzPts val="1700"/>
              <a:buFont typeface="Times New Roman"/>
              <a:buAutoNum type="arabicPeriod"/>
            </a:pPr>
            <a:r>
              <a:rPr b="0" i="0" lang="en-US" sz="1700" u="none" cap="none" strike="noStrike">
                <a:solidFill>
                  <a:schemeClr val="dk1"/>
                </a:solidFill>
                <a:latin typeface="Times New Roman"/>
                <a:ea typeface="Times New Roman"/>
                <a:cs typeface="Times New Roman"/>
                <a:sym typeface="Times New Roman"/>
              </a:rPr>
              <a:t>S. Saxena, B. K. Kanaujia, S. Dwari, S. Kumar, H. C. Choi, and K. W. Kim, “Planar four-port dual circularly-polarized MIMO antenna for Sub-6GHz band,” IEEE Access, vol. 8, pp. 90779–90791, 2020, doi: 10.1109/ACCESS.2020.2993897.</a:t>
            </a:r>
            <a:endParaRPr/>
          </a:p>
          <a:p>
            <a:pPr indent="-336550" lvl="0" marL="457200" marR="0" rtl="0" algn="just">
              <a:lnSpc>
                <a:spcPct val="115000"/>
              </a:lnSpc>
              <a:spcBef>
                <a:spcPts val="0"/>
              </a:spcBef>
              <a:spcAft>
                <a:spcPts val="0"/>
              </a:spcAft>
              <a:buClr>
                <a:schemeClr val="dk1"/>
              </a:buClr>
              <a:buSzPts val="1700"/>
              <a:buFont typeface="Times New Roman"/>
              <a:buAutoNum type="arabicPeriod"/>
            </a:pPr>
            <a:r>
              <a:rPr b="0" i="0" lang="en-US" sz="1700" u="none" cap="none" strike="noStrike">
                <a:solidFill>
                  <a:schemeClr val="dk1"/>
                </a:solidFill>
                <a:latin typeface="Times New Roman"/>
                <a:ea typeface="Times New Roman"/>
                <a:cs typeface="Times New Roman"/>
                <a:sym typeface="Times New Roman"/>
              </a:rPr>
              <a:t>S. N. R. Rizvi, M. Abu Sufian, W. A. Awan, Y. Choi, N. Hussain, and</a:t>
            </a:r>
            <a:endParaRPr/>
          </a:p>
          <a:p>
            <a:pPr indent="-336550" lvl="0" marL="457200" marR="0" rtl="0" algn="just">
              <a:lnSpc>
                <a:spcPct val="115000"/>
              </a:lnSpc>
              <a:spcBef>
                <a:spcPts val="0"/>
              </a:spcBef>
              <a:spcAft>
                <a:spcPts val="0"/>
              </a:spcAft>
              <a:buClr>
                <a:schemeClr val="dk1"/>
              </a:buClr>
              <a:buSzPts val="1700"/>
              <a:buFont typeface="Times New Roman"/>
              <a:buAutoNum type="arabicPeriod"/>
            </a:pPr>
            <a:r>
              <a:rPr b="0" i="0" lang="en-US" sz="1700" u="none" cap="none" strike="noStrike">
                <a:solidFill>
                  <a:schemeClr val="dk1"/>
                </a:solidFill>
                <a:latin typeface="Times New Roman"/>
                <a:ea typeface="Times New Roman"/>
                <a:cs typeface="Times New Roman"/>
                <a:sym typeface="Times New Roman"/>
              </a:rPr>
              <a:t>N. Kim, “A closely spaced two-port MIMO antenna with a radiation null for out-of-band suppressions for 5G Sub-6GHz applications,” PLoS ONE, vol. 19, no.7, p.e0306446, 2024, doi:10.1371/journal.pone.0306446.</a:t>
            </a:r>
            <a:endParaRPr/>
          </a:p>
          <a:p>
            <a:pPr indent="-336550" lvl="0" marL="457200" marR="0" rtl="0" algn="just">
              <a:lnSpc>
                <a:spcPct val="115000"/>
              </a:lnSpc>
              <a:spcBef>
                <a:spcPts val="0"/>
              </a:spcBef>
              <a:spcAft>
                <a:spcPts val="0"/>
              </a:spcAft>
              <a:buClr>
                <a:schemeClr val="dk1"/>
              </a:buClr>
              <a:buSzPts val="1700"/>
              <a:buFont typeface="Times New Roman"/>
              <a:buAutoNum type="arabicPeriod"/>
            </a:pPr>
            <a:r>
              <a:rPr b="0" i="0" lang="en-US" sz="1700" u="none" cap="none" strike="noStrike">
                <a:solidFill>
                  <a:schemeClr val="dk1"/>
                </a:solidFill>
                <a:latin typeface="Times New Roman"/>
                <a:ea typeface="Times New Roman"/>
                <a:cs typeface="Times New Roman"/>
                <a:sym typeface="Times New Roman"/>
              </a:rPr>
              <a:t>Compact two-port MIMO antenna supporting the Sub-6 GHz 5G spectrum band of n77-n78. 978-1-6654-8035-2/22/$31.00 ©2022 IEEE | DOI: 10.1109/ICCCI54379.2022.9740767</a:t>
            </a:r>
            <a:endParaRPr/>
          </a:p>
          <a:p>
            <a:pPr indent="0" lvl="0" marL="457200" marR="0" rtl="0" algn="just">
              <a:lnSpc>
                <a:spcPct val="120000"/>
              </a:lnSpc>
              <a:spcBef>
                <a:spcPts val="20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299" name="Shape 299"/>
        <p:cNvGrpSpPr/>
        <p:nvPr/>
      </p:nvGrpSpPr>
      <p:grpSpPr>
        <a:xfrm>
          <a:off x="0" y="0"/>
          <a:ext cx="0" cy="0"/>
          <a:chOff x="0" y="0"/>
          <a:chExt cx="0" cy="0"/>
        </a:xfrm>
      </p:grpSpPr>
      <p:grpSp>
        <p:nvGrpSpPr>
          <p:cNvPr id="300" name="Google Shape;300;p35"/>
          <p:cNvGrpSpPr/>
          <p:nvPr/>
        </p:nvGrpSpPr>
        <p:grpSpPr>
          <a:xfrm>
            <a:off x="230075" y="160789"/>
            <a:ext cx="9293451" cy="6916590"/>
            <a:chOff x="0" y="-28575"/>
            <a:chExt cx="3442019" cy="2561700"/>
          </a:xfrm>
        </p:grpSpPr>
        <p:sp>
          <p:nvSpPr>
            <p:cNvPr id="301" name="Google Shape;301;p35"/>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302" name="Google Shape;302;p35"/>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3" name="Google Shape;303;p35"/>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5"/>
          <p:cNvSpPr txBox="1"/>
          <p:nvPr/>
        </p:nvSpPr>
        <p:spPr>
          <a:xfrm>
            <a:off x="572150" y="1129300"/>
            <a:ext cx="8554800" cy="5605500"/>
          </a:xfrm>
          <a:prstGeom prst="rect">
            <a:avLst/>
          </a:prstGeom>
          <a:noFill/>
          <a:ln>
            <a:noFill/>
          </a:ln>
        </p:spPr>
        <p:txBody>
          <a:bodyPr anchorCtr="0" anchor="t" bIns="91425" lIns="91425" spcFirstLastPara="1" rIns="91425" wrap="square" tIns="91425">
            <a:noAutofit/>
          </a:bodyPr>
          <a:lstStyle/>
          <a:p>
            <a:pPr indent="-323850" lvl="0" marL="654050" marR="0" rtl="0" algn="just">
              <a:lnSpc>
                <a:spcPct val="115000"/>
              </a:lnSpc>
              <a:spcBef>
                <a:spcPts val="0"/>
              </a:spcBef>
              <a:spcAft>
                <a:spcPts val="0"/>
              </a:spcAft>
              <a:buClr>
                <a:schemeClr val="dk1"/>
              </a:buClr>
              <a:buSzPts val="2000"/>
              <a:buFont typeface="Times New Roman"/>
              <a:buAutoNum type="arabicPeriod" startAt="8"/>
            </a:pPr>
            <a:r>
              <a:rPr b="0" i="0" lang="en-US" sz="1700" u="none" cap="none" strike="noStrike">
                <a:solidFill>
                  <a:schemeClr val="dk1"/>
                </a:solidFill>
                <a:latin typeface="Times New Roman"/>
                <a:ea typeface="Times New Roman"/>
                <a:cs typeface="Times New Roman"/>
                <a:sym typeface="Times New Roman"/>
              </a:rPr>
              <a:t>S. Padmanathan et al., “Compact multiband reconfigurable MIMO antenna for Sub-6GHz 5G mobile terminal,” IEEE Access, vol. 10, pp. 60241–60252, 2022, doi: 10.1109/ACCESS.2022.3180048.</a:t>
            </a:r>
            <a:endParaRPr/>
          </a:p>
          <a:p>
            <a:pPr indent="-323850" lvl="0" marL="654050" marR="0" rtl="0" algn="just">
              <a:lnSpc>
                <a:spcPct val="115000"/>
              </a:lnSpc>
              <a:spcBef>
                <a:spcPts val="0"/>
              </a:spcBef>
              <a:spcAft>
                <a:spcPts val="0"/>
              </a:spcAft>
              <a:buClr>
                <a:schemeClr val="dk1"/>
              </a:buClr>
              <a:buSzPts val="2000"/>
              <a:buFont typeface="Times New Roman"/>
              <a:buAutoNum type="arabicPeriod" startAt="8"/>
            </a:pPr>
            <a:r>
              <a:rPr b="0" i="0" lang="en-US" sz="1700" u="none" cap="none" strike="noStrike">
                <a:solidFill>
                  <a:schemeClr val="dk1"/>
                </a:solidFill>
                <a:latin typeface="Times New Roman"/>
                <a:ea typeface="Times New Roman"/>
                <a:cs typeface="Times New Roman"/>
                <a:sym typeface="Times New Roman"/>
              </a:rPr>
              <a:t>P. Singh et al., 'Compact Dual-Band MIMO Antenna for WLAN/WiMAX Applications,' IEEE Trans. Antennas Propag., 2022.</a:t>
            </a:r>
            <a:endParaRPr/>
          </a:p>
          <a:p>
            <a:pPr indent="-323850" lvl="0" marL="654050" marR="0" rtl="0" algn="just">
              <a:lnSpc>
                <a:spcPct val="115000"/>
              </a:lnSpc>
              <a:spcBef>
                <a:spcPts val="0"/>
              </a:spcBef>
              <a:spcAft>
                <a:spcPts val="0"/>
              </a:spcAft>
              <a:buClr>
                <a:schemeClr val="dk1"/>
              </a:buClr>
              <a:buSzPts val="2000"/>
              <a:buFont typeface="Times New Roman"/>
              <a:buAutoNum type="arabicPeriod" startAt="8"/>
            </a:pPr>
            <a:r>
              <a:rPr b="0" i="0" lang="en-US" sz="1700" u="none" cap="none" strike="noStrike">
                <a:solidFill>
                  <a:schemeClr val="dk1"/>
                </a:solidFill>
                <a:latin typeface="Times New Roman"/>
                <a:ea typeface="Times New Roman"/>
                <a:cs typeface="Times New Roman"/>
                <a:sym typeface="Times New Roman"/>
              </a:rPr>
              <a:t>R. Sharma et al., 'Isolation Enhancement in MIMO Antennas Using Defected Ground Structure,' IEEE Access, 2021.</a:t>
            </a:r>
            <a:endParaRPr/>
          </a:p>
          <a:p>
            <a:pPr indent="-323850" lvl="0" marL="654050" marR="0" rtl="0" algn="just">
              <a:lnSpc>
                <a:spcPct val="115000"/>
              </a:lnSpc>
              <a:spcBef>
                <a:spcPts val="0"/>
              </a:spcBef>
              <a:spcAft>
                <a:spcPts val="0"/>
              </a:spcAft>
              <a:buClr>
                <a:schemeClr val="dk1"/>
              </a:buClr>
              <a:buSzPts val="2000"/>
              <a:buFont typeface="Times New Roman"/>
              <a:buAutoNum type="arabicPeriod" startAt="8"/>
            </a:pPr>
            <a:r>
              <a:rPr b="0" i="0" lang="en-US" sz="1700" u="none" cap="none" strike="noStrike">
                <a:solidFill>
                  <a:schemeClr val="dk1"/>
                </a:solidFill>
                <a:latin typeface="Times New Roman"/>
                <a:ea typeface="Times New Roman"/>
                <a:cs typeface="Times New Roman"/>
                <a:sym typeface="Times New Roman"/>
              </a:rPr>
              <a:t>M. Kumar et al., 'Multiband Microstrip Patch Antenna Design Using Slot Structures,' IET Microwaves, Antennas &amp; Propagation, 2020.</a:t>
            </a:r>
            <a:endParaRPr/>
          </a:p>
          <a:p>
            <a:pPr indent="-323850" lvl="0" marL="654050" marR="0" rtl="0" algn="just">
              <a:lnSpc>
                <a:spcPct val="115000"/>
              </a:lnSpc>
              <a:spcBef>
                <a:spcPts val="0"/>
              </a:spcBef>
              <a:spcAft>
                <a:spcPts val="0"/>
              </a:spcAft>
              <a:buClr>
                <a:schemeClr val="dk1"/>
              </a:buClr>
              <a:buSzPts val="2000"/>
              <a:buFont typeface="Times New Roman"/>
              <a:buAutoNum type="arabicPeriod" startAt="8"/>
            </a:pPr>
            <a:r>
              <a:rPr b="0" i="0" lang="en-US" sz="1700" u="none" cap="none" strike="noStrike">
                <a:solidFill>
                  <a:schemeClr val="dk1"/>
                </a:solidFill>
                <a:latin typeface="Times New Roman"/>
                <a:ea typeface="Times New Roman"/>
                <a:cs typeface="Times New Roman"/>
                <a:sym typeface="Times New Roman"/>
              </a:rPr>
              <a:t>A. Yadav et al., 'Triple Band Microstrip Antenna Using Parasitic Coupling,' IJAREEIE, 2020.</a:t>
            </a:r>
            <a:endParaRPr b="0" i="0" sz="1700" u="none" cap="none" strike="noStrike">
              <a:solidFill>
                <a:schemeClr val="dk1"/>
              </a:solidFill>
              <a:latin typeface="Arial"/>
              <a:ea typeface="Arial"/>
              <a:cs typeface="Arial"/>
              <a:sym typeface="Arial"/>
            </a:endParaRPr>
          </a:p>
          <a:p>
            <a:pPr indent="-196850" lvl="0" marL="654050" marR="0" rtl="0" algn="just">
              <a:lnSpc>
                <a:spcPct val="115000"/>
              </a:lnSpc>
              <a:spcBef>
                <a:spcPts val="0"/>
              </a:spcBef>
              <a:spcAft>
                <a:spcPts val="0"/>
              </a:spcAft>
              <a:buClr>
                <a:schemeClr val="dk1"/>
              </a:buClr>
              <a:buSzPts val="2300"/>
              <a:buFont typeface="Arial"/>
              <a:buNone/>
            </a:pPr>
            <a:r>
              <a:t/>
            </a:r>
            <a:endParaRPr b="0" i="0" sz="1700" u="none" cap="none" strike="noStrike">
              <a:solidFill>
                <a:schemeClr val="dk1"/>
              </a:solidFill>
              <a:latin typeface="Arial"/>
              <a:ea typeface="Arial"/>
              <a:cs typeface="Arial"/>
              <a:sym typeface="Arial"/>
            </a:endParaRPr>
          </a:p>
          <a:p>
            <a:pPr indent="-196850" lvl="0" marL="654050" marR="0" rtl="0" algn="just">
              <a:lnSpc>
                <a:spcPct val="115000"/>
              </a:lnSpc>
              <a:spcBef>
                <a:spcPts val="0"/>
              </a:spcBef>
              <a:spcAft>
                <a:spcPts val="0"/>
              </a:spcAft>
              <a:buClr>
                <a:schemeClr val="dk1"/>
              </a:buClr>
              <a:buSzPts val="2300"/>
              <a:buFont typeface="Arial"/>
              <a:buNone/>
            </a:pPr>
            <a:r>
              <a:t/>
            </a:r>
            <a:endParaRPr b="0" i="0" sz="1700" u="none" cap="none" strike="noStrike">
              <a:solidFill>
                <a:schemeClr val="dk1"/>
              </a:solidFill>
              <a:latin typeface="Arial"/>
              <a:ea typeface="Arial"/>
              <a:cs typeface="Arial"/>
              <a:sym typeface="Arial"/>
            </a:endParaRPr>
          </a:p>
          <a:p>
            <a:pPr indent="-196850" lvl="0" marL="654050" marR="0" rtl="0" algn="just">
              <a:lnSpc>
                <a:spcPct val="115000"/>
              </a:lnSpc>
              <a:spcBef>
                <a:spcPts val="0"/>
              </a:spcBef>
              <a:spcAft>
                <a:spcPts val="0"/>
              </a:spcAft>
              <a:buClr>
                <a:schemeClr val="dk1"/>
              </a:buClr>
              <a:buSzPts val="2300"/>
              <a:buFont typeface="Arial"/>
              <a:buNone/>
            </a:pPr>
            <a:r>
              <a:t/>
            </a:r>
            <a:endParaRPr b="0" i="0" sz="1700" u="none" cap="none" strike="noStrike">
              <a:solidFill>
                <a:schemeClr val="dk1"/>
              </a:solidFill>
              <a:latin typeface="Arial"/>
              <a:ea typeface="Arial"/>
              <a:cs typeface="Arial"/>
              <a:sym typeface="Arial"/>
            </a:endParaRPr>
          </a:p>
          <a:p>
            <a:pPr indent="-196850" lvl="0" marL="654050" marR="0" rtl="0" algn="just">
              <a:lnSpc>
                <a:spcPct val="115000"/>
              </a:lnSpc>
              <a:spcBef>
                <a:spcPts val="0"/>
              </a:spcBef>
              <a:spcAft>
                <a:spcPts val="0"/>
              </a:spcAft>
              <a:buClr>
                <a:schemeClr val="dk1"/>
              </a:buClr>
              <a:buSzPts val="2300"/>
              <a:buFont typeface="Arial"/>
              <a:buNone/>
            </a:pPr>
            <a:r>
              <a:t/>
            </a:r>
            <a:endParaRPr b="0" i="0" sz="1700" u="none" cap="none" strike="noStrike">
              <a:solidFill>
                <a:schemeClr val="dk1"/>
              </a:solidFill>
              <a:latin typeface="Times New Roman"/>
              <a:ea typeface="Times New Roman"/>
              <a:cs typeface="Times New Roman"/>
              <a:sym typeface="Times New Roman"/>
            </a:endParaRPr>
          </a:p>
          <a:p>
            <a:pPr indent="-228600" lvl="0" marL="685800" marR="0" rtl="0" algn="just">
              <a:lnSpc>
                <a:spcPct val="100000"/>
              </a:lnSpc>
              <a:spcBef>
                <a:spcPts val="20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75E6F"/>
        </a:solidFill>
      </p:bgPr>
    </p:bg>
    <p:spTree>
      <p:nvGrpSpPr>
        <p:cNvPr id="308" name="Shape 308"/>
        <p:cNvGrpSpPr/>
        <p:nvPr/>
      </p:nvGrpSpPr>
      <p:grpSpPr>
        <a:xfrm>
          <a:off x="0" y="0"/>
          <a:ext cx="0" cy="0"/>
          <a:chOff x="0" y="0"/>
          <a:chExt cx="0" cy="0"/>
        </a:xfrm>
      </p:grpSpPr>
      <p:grpSp>
        <p:nvGrpSpPr>
          <p:cNvPr id="309" name="Google Shape;309;p36"/>
          <p:cNvGrpSpPr/>
          <p:nvPr/>
        </p:nvGrpSpPr>
        <p:grpSpPr>
          <a:xfrm>
            <a:off x="230075" y="160789"/>
            <a:ext cx="9293451" cy="6916590"/>
            <a:chOff x="0" y="-28575"/>
            <a:chExt cx="3442019" cy="2561700"/>
          </a:xfrm>
        </p:grpSpPr>
        <p:sp>
          <p:nvSpPr>
            <p:cNvPr id="310" name="Google Shape;310;p36"/>
            <p:cNvSpPr/>
            <p:nvPr/>
          </p:nvSpPr>
          <p:spPr>
            <a:xfrm>
              <a:off x="0" y="0"/>
              <a:ext cx="3442019" cy="2533081"/>
            </a:xfrm>
            <a:custGeom>
              <a:rect b="b" l="l" r="r" t="t"/>
              <a:pathLst>
                <a:path extrusionOk="0" h="2533081" w="3442019">
                  <a:moveTo>
                    <a:pt x="0" y="0"/>
                  </a:moveTo>
                  <a:lnTo>
                    <a:pt x="3442019" y="0"/>
                  </a:lnTo>
                  <a:lnTo>
                    <a:pt x="3442019" y="2533081"/>
                  </a:lnTo>
                  <a:lnTo>
                    <a:pt x="0" y="2533081"/>
                  </a:lnTo>
                  <a:close/>
                </a:path>
              </a:pathLst>
            </a:custGeom>
            <a:solidFill>
              <a:srgbClr val="FFFFFF"/>
            </a:solidFill>
            <a:ln>
              <a:noFill/>
            </a:ln>
          </p:spPr>
        </p:sp>
        <p:sp>
          <p:nvSpPr>
            <p:cNvPr id="311" name="Google Shape;311;p36"/>
            <p:cNvSpPr txBox="1"/>
            <p:nvPr/>
          </p:nvSpPr>
          <p:spPr>
            <a:xfrm>
              <a:off x="0" y="-28575"/>
              <a:ext cx="3441900" cy="2561700"/>
            </a:xfrm>
            <a:prstGeom prst="rect">
              <a:avLst/>
            </a:prstGeom>
            <a:noFill/>
            <a:ln>
              <a:noFill/>
            </a:ln>
          </p:spPr>
          <p:txBody>
            <a:bodyPr anchorCtr="0" anchor="ctr" bIns="22575" lIns="22575" spcFirstLastPara="1" rIns="22575" wrap="square" tIns="22575">
              <a:noAutofit/>
            </a:bodyPr>
            <a:lstStyle/>
            <a:p>
              <a:pPr indent="0" lvl="0" marL="0" marR="0" rtl="0" algn="ctr">
                <a:lnSpc>
                  <a:spcPct val="107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2" name="Google Shape;312;p36"/>
          <p:cNvSpPr/>
          <p:nvPr/>
        </p:nvSpPr>
        <p:spPr>
          <a:xfrm>
            <a:off x="418854" y="409766"/>
            <a:ext cx="8898826" cy="6482014"/>
          </a:xfrm>
          <a:custGeom>
            <a:rect b="b" l="l" r="r" t="t"/>
            <a:pathLst>
              <a:path extrusionOk="0" h="13504195" w="18539220">
                <a:moveTo>
                  <a:pt x="18536679" y="2391936"/>
                </a:moveTo>
                <a:lnTo>
                  <a:pt x="18539220" y="2289462"/>
                </a:lnTo>
                <a:lnTo>
                  <a:pt x="18532870" y="2315080"/>
                </a:lnTo>
                <a:lnTo>
                  <a:pt x="18532870" y="2152828"/>
                </a:lnTo>
                <a:cubicBezTo>
                  <a:pt x="18532870" y="2144289"/>
                  <a:pt x="18531599" y="2118670"/>
                  <a:pt x="18530329" y="2084512"/>
                </a:cubicBezTo>
                <a:lnTo>
                  <a:pt x="18530329" y="2067432"/>
                </a:lnTo>
                <a:lnTo>
                  <a:pt x="18529060" y="2067432"/>
                </a:lnTo>
                <a:cubicBezTo>
                  <a:pt x="18527790" y="2033274"/>
                  <a:pt x="18523979" y="2033274"/>
                  <a:pt x="18522710" y="2033274"/>
                </a:cubicBezTo>
                <a:cubicBezTo>
                  <a:pt x="18522710" y="1760008"/>
                  <a:pt x="18523979" y="1478202"/>
                  <a:pt x="18525249" y="1204935"/>
                </a:cubicBezTo>
                <a:cubicBezTo>
                  <a:pt x="18525249" y="1128079"/>
                  <a:pt x="18526520" y="1059763"/>
                  <a:pt x="18526520" y="982906"/>
                </a:cubicBezTo>
                <a:lnTo>
                  <a:pt x="18530329" y="982906"/>
                </a:lnTo>
                <a:lnTo>
                  <a:pt x="18530329" y="847090"/>
                </a:lnTo>
                <a:lnTo>
                  <a:pt x="18534140" y="847090"/>
                </a:lnTo>
                <a:lnTo>
                  <a:pt x="18534140" y="816610"/>
                </a:lnTo>
                <a:cubicBezTo>
                  <a:pt x="18536679" y="781050"/>
                  <a:pt x="18539220" y="726440"/>
                  <a:pt x="18536679" y="692150"/>
                </a:cubicBezTo>
                <a:cubicBezTo>
                  <a:pt x="18537949" y="674370"/>
                  <a:pt x="18535410" y="652780"/>
                  <a:pt x="18534140" y="641350"/>
                </a:cubicBezTo>
                <a:lnTo>
                  <a:pt x="18535410" y="641350"/>
                </a:lnTo>
                <a:lnTo>
                  <a:pt x="18531599" y="542290"/>
                </a:lnTo>
                <a:lnTo>
                  <a:pt x="18532870" y="541020"/>
                </a:lnTo>
                <a:lnTo>
                  <a:pt x="18532870" y="537210"/>
                </a:lnTo>
                <a:cubicBezTo>
                  <a:pt x="18532870" y="502920"/>
                  <a:pt x="18531599" y="468630"/>
                  <a:pt x="18531599" y="431800"/>
                </a:cubicBezTo>
                <a:cubicBezTo>
                  <a:pt x="18529060" y="361950"/>
                  <a:pt x="18527790" y="290830"/>
                  <a:pt x="18534140" y="213360"/>
                </a:cubicBezTo>
                <a:lnTo>
                  <a:pt x="18534140" y="207010"/>
                </a:lnTo>
                <a:cubicBezTo>
                  <a:pt x="18532870" y="191770"/>
                  <a:pt x="18532870" y="176530"/>
                  <a:pt x="18532870" y="158750"/>
                </a:cubicBezTo>
                <a:lnTo>
                  <a:pt x="18532870" y="80010"/>
                </a:lnTo>
                <a:lnTo>
                  <a:pt x="18537949" y="59690"/>
                </a:lnTo>
                <a:lnTo>
                  <a:pt x="18537949" y="8890"/>
                </a:lnTo>
                <a:lnTo>
                  <a:pt x="18531599" y="8890"/>
                </a:lnTo>
                <a:cubicBezTo>
                  <a:pt x="18493499" y="8890"/>
                  <a:pt x="18437620" y="7620"/>
                  <a:pt x="18422379" y="7620"/>
                </a:cubicBezTo>
                <a:cubicBezTo>
                  <a:pt x="18394440" y="7620"/>
                  <a:pt x="18379199" y="7620"/>
                  <a:pt x="18371579" y="8890"/>
                </a:cubicBezTo>
                <a:cubicBezTo>
                  <a:pt x="18338560" y="0"/>
                  <a:pt x="18259820" y="1270"/>
                  <a:pt x="18183620" y="3810"/>
                </a:cubicBezTo>
                <a:cubicBezTo>
                  <a:pt x="18145520" y="5080"/>
                  <a:pt x="18108690" y="5080"/>
                  <a:pt x="18083290" y="3810"/>
                </a:cubicBezTo>
                <a:lnTo>
                  <a:pt x="18079479" y="3810"/>
                </a:lnTo>
                <a:lnTo>
                  <a:pt x="18076940" y="10160"/>
                </a:lnTo>
                <a:cubicBezTo>
                  <a:pt x="18026140" y="10160"/>
                  <a:pt x="17976610" y="11430"/>
                  <a:pt x="17911840" y="13970"/>
                </a:cubicBezTo>
                <a:lnTo>
                  <a:pt x="17900410" y="13970"/>
                </a:lnTo>
                <a:lnTo>
                  <a:pt x="17901679" y="16510"/>
                </a:lnTo>
                <a:lnTo>
                  <a:pt x="17868660" y="16510"/>
                </a:lnTo>
                <a:lnTo>
                  <a:pt x="17868660" y="21590"/>
                </a:lnTo>
                <a:cubicBezTo>
                  <a:pt x="17845799" y="21590"/>
                  <a:pt x="17821670" y="20320"/>
                  <a:pt x="17794999" y="19050"/>
                </a:cubicBezTo>
                <a:cubicBezTo>
                  <a:pt x="17772140" y="17780"/>
                  <a:pt x="17749279" y="17780"/>
                  <a:pt x="17726420" y="16510"/>
                </a:cubicBezTo>
                <a:lnTo>
                  <a:pt x="17726420" y="15240"/>
                </a:lnTo>
                <a:cubicBezTo>
                  <a:pt x="17718799" y="13970"/>
                  <a:pt x="17709910" y="13970"/>
                  <a:pt x="17702290" y="12700"/>
                </a:cubicBezTo>
                <a:lnTo>
                  <a:pt x="17701020" y="44450"/>
                </a:lnTo>
                <a:lnTo>
                  <a:pt x="17697210" y="44450"/>
                </a:lnTo>
                <a:lnTo>
                  <a:pt x="17697210" y="13970"/>
                </a:lnTo>
                <a:cubicBezTo>
                  <a:pt x="17336247" y="10160"/>
                  <a:pt x="16836306" y="12700"/>
                  <a:pt x="16348559" y="15240"/>
                </a:cubicBezTo>
                <a:cubicBezTo>
                  <a:pt x="15848617" y="17780"/>
                  <a:pt x="15373065" y="20320"/>
                  <a:pt x="14934093" y="16510"/>
                </a:cubicBezTo>
                <a:cubicBezTo>
                  <a:pt x="14726800" y="17780"/>
                  <a:pt x="14568283" y="17780"/>
                  <a:pt x="14434153" y="16510"/>
                </a:cubicBezTo>
                <a:lnTo>
                  <a:pt x="14434153" y="15240"/>
                </a:lnTo>
                <a:lnTo>
                  <a:pt x="14019568" y="12700"/>
                </a:lnTo>
                <a:lnTo>
                  <a:pt x="14019568" y="16510"/>
                </a:lnTo>
                <a:cubicBezTo>
                  <a:pt x="13885439" y="16510"/>
                  <a:pt x="13739115" y="17780"/>
                  <a:pt x="13580597" y="17780"/>
                </a:cubicBezTo>
                <a:lnTo>
                  <a:pt x="13483047" y="12700"/>
                </a:lnTo>
                <a:lnTo>
                  <a:pt x="13422078" y="12700"/>
                </a:lnTo>
                <a:cubicBezTo>
                  <a:pt x="13263561" y="11430"/>
                  <a:pt x="13190400" y="11430"/>
                  <a:pt x="13166012" y="19050"/>
                </a:cubicBezTo>
                <a:lnTo>
                  <a:pt x="13166012" y="21590"/>
                </a:lnTo>
                <a:cubicBezTo>
                  <a:pt x="13105043" y="22860"/>
                  <a:pt x="13044075" y="22860"/>
                  <a:pt x="12995301" y="24130"/>
                </a:cubicBezTo>
                <a:cubicBezTo>
                  <a:pt x="12873364" y="19050"/>
                  <a:pt x="12714846" y="20320"/>
                  <a:pt x="12531940" y="20320"/>
                </a:cubicBezTo>
                <a:cubicBezTo>
                  <a:pt x="12349036" y="21590"/>
                  <a:pt x="12153938" y="21590"/>
                  <a:pt x="12019807" y="16510"/>
                </a:cubicBezTo>
                <a:lnTo>
                  <a:pt x="12007613" y="15240"/>
                </a:lnTo>
                <a:lnTo>
                  <a:pt x="11983226" y="15240"/>
                </a:lnTo>
                <a:cubicBezTo>
                  <a:pt x="11922258" y="16510"/>
                  <a:pt x="11678384" y="17780"/>
                  <a:pt x="11446705" y="19050"/>
                </a:cubicBezTo>
                <a:cubicBezTo>
                  <a:pt x="11227219" y="20320"/>
                  <a:pt x="10983346" y="21590"/>
                  <a:pt x="10788246" y="22860"/>
                </a:cubicBezTo>
                <a:cubicBezTo>
                  <a:pt x="10751667" y="20320"/>
                  <a:pt x="10678504" y="19050"/>
                  <a:pt x="10593149" y="19050"/>
                </a:cubicBezTo>
                <a:cubicBezTo>
                  <a:pt x="10312694" y="20320"/>
                  <a:pt x="9995658" y="21590"/>
                  <a:pt x="9605461" y="21590"/>
                </a:cubicBezTo>
                <a:lnTo>
                  <a:pt x="9593269" y="20320"/>
                </a:lnTo>
                <a:lnTo>
                  <a:pt x="9532300" y="21590"/>
                </a:lnTo>
                <a:cubicBezTo>
                  <a:pt x="9276232" y="21590"/>
                  <a:pt x="9020165" y="20320"/>
                  <a:pt x="8764098" y="20320"/>
                </a:cubicBezTo>
                <a:lnTo>
                  <a:pt x="8764098" y="17780"/>
                </a:lnTo>
                <a:cubicBezTo>
                  <a:pt x="8690936" y="19050"/>
                  <a:pt x="8617775" y="19050"/>
                  <a:pt x="8556806" y="20320"/>
                </a:cubicBezTo>
                <a:lnTo>
                  <a:pt x="8459257" y="20320"/>
                </a:lnTo>
                <a:cubicBezTo>
                  <a:pt x="7861767" y="19050"/>
                  <a:pt x="7239890" y="17780"/>
                  <a:pt x="6605819" y="17780"/>
                </a:cubicBezTo>
                <a:lnTo>
                  <a:pt x="6581432" y="17780"/>
                </a:lnTo>
                <a:lnTo>
                  <a:pt x="6544851" y="22860"/>
                </a:lnTo>
                <a:lnTo>
                  <a:pt x="6544851" y="27940"/>
                </a:lnTo>
                <a:lnTo>
                  <a:pt x="6520464" y="27940"/>
                </a:lnTo>
                <a:lnTo>
                  <a:pt x="5764456" y="16510"/>
                </a:lnTo>
                <a:cubicBezTo>
                  <a:pt x="5654714" y="16510"/>
                  <a:pt x="5593745" y="19050"/>
                  <a:pt x="5520583" y="20320"/>
                </a:cubicBezTo>
                <a:cubicBezTo>
                  <a:pt x="5410841" y="22860"/>
                  <a:pt x="5313291" y="26670"/>
                  <a:pt x="4996255" y="21590"/>
                </a:cubicBezTo>
                <a:lnTo>
                  <a:pt x="4996255" y="24130"/>
                </a:lnTo>
                <a:lnTo>
                  <a:pt x="4228054" y="24130"/>
                </a:lnTo>
                <a:cubicBezTo>
                  <a:pt x="3337916" y="24130"/>
                  <a:pt x="2313649" y="24130"/>
                  <a:pt x="1521061" y="19050"/>
                </a:cubicBezTo>
                <a:lnTo>
                  <a:pt x="1191831" y="17780"/>
                </a:lnTo>
                <a:lnTo>
                  <a:pt x="1325961" y="24130"/>
                </a:lnTo>
                <a:lnTo>
                  <a:pt x="1252799" y="24130"/>
                </a:lnTo>
                <a:cubicBezTo>
                  <a:pt x="935764" y="21590"/>
                  <a:pt x="848360" y="20320"/>
                  <a:pt x="840740" y="24130"/>
                </a:cubicBezTo>
                <a:lnTo>
                  <a:pt x="840740" y="21590"/>
                </a:lnTo>
                <a:cubicBezTo>
                  <a:pt x="839470" y="21590"/>
                  <a:pt x="839470" y="21590"/>
                  <a:pt x="838200" y="22860"/>
                </a:cubicBezTo>
                <a:cubicBezTo>
                  <a:pt x="836930" y="22860"/>
                  <a:pt x="835660" y="21590"/>
                  <a:pt x="833120" y="21590"/>
                </a:cubicBezTo>
                <a:lnTo>
                  <a:pt x="833120" y="15240"/>
                </a:lnTo>
                <a:cubicBezTo>
                  <a:pt x="797560" y="16510"/>
                  <a:pt x="768350" y="16510"/>
                  <a:pt x="742950" y="15240"/>
                </a:cubicBezTo>
                <a:cubicBezTo>
                  <a:pt x="713740" y="13970"/>
                  <a:pt x="687070" y="13970"/>
                  <a:pt x="659130" y="16510"/>
                </a:cubicBezTo>
                <a:cubicBezTo>
                  <a:pt x="657860" y="15240"/>
                  <a:pt x="656590" y="12700"/>
                  <a:pt x="652780" y="11430"/>
                </a:cubicBezTo>
                <a:lnTo>
                  <a:pt x="650240" y="11430"/>
                </a:lnTo>
                <a:cubicBezTo>
                  <a:pt x="646430" y="11430"/>
                  <a:pt x="643890" y="12700"/>
                  <a:pt x="641350" y="12700"/>
                </a:cubicBezTo>
                <a:lnTo>
                  <a:pt x="641350" y="7620"/>
                </a:lnTo>
                <a:cubicBezTo>
                  <a:pt x="572770" y="7620"/>
                  <a:pt x="551180" y="15240"/>
                  <a:pt x="541020" y="21590"/>
                </a:cubicBezTo>
                <a:cubicBezTo>
                  <a:pt x="486410" y="20320"/>
                  <a:pt x="438150" y="19050"/>
                  <a:pt x="391160" y="15240"/>
                </a:cubicBezTo>
                <a:lnTo>
                  <a:pt x="391160" y="20320"/>
                </a:lnTo>
                <a:lnTo>
                  <a:pt x="373380" y="20320"/>
                </a:lnTo>
                <a:lnTo>
                  <a:pt x="373380" y="22860"/>
                </a:lnTo>
                <a:lnTo>
                  <a:pt x="298450" y="22860"/>
                </a:lnTo>
                <a:lnTo>
                  <a:pt x="251460" y="19050"/>
                </a:lnTo>
                <a:lnTo>
                  <a:pt x="250190" y="19050"/>
                </a:lnTo>
                <a:cubicBezTo>
                  <a:pt x="240030" y="22860"/>
                  <a:pt x="205740" y="22860"/>
                  <a:pt x="173990" y="22860"/>
                </a:cubicBezTo>
                <a:cubicBezTo>
                  <a:pt x="146050" y="22860"/>
                  <a:pt x="120650" y="22860"/>
                  <a:pt x="107950" y="25400"/>
                </a:cubicBezTo>
                <a:lnTo>
                  <a:pt x="100330" y="27940"/>
                </a:lnTo>
                <a:lnTo>
                  <a:pt x="45720" y="27940"/>
                </a:lnTo>
                <a:lnTo>
                  <a:pt x="45720" y="34290"/>
                </a:lnTo>
                <a:lnTo>
                  <a:pt x="29210" y="34290"/>
                </a:lnTo>
                <a:lnTo>
                  <a:pt x="29210" y="40640"/>
                </a:lnTo>
                <a:cubicBezTo>
                  <a:pt x="29210" y="50800"/>
                  <a:pt x="29210" y="62230"/>
                  <a:pt x="27940" y="76200"/>
                </a:cubicBezTo>
                <a:lnTo>
                  <a:pt x="27940" y="87630"/>
                </a:lnTo>
                <a:cubicBezTo>
                  <a:pt x="27940" y="97790"/>
                  <a:pt x="27940" y="105410"/>
                  <a:pt x="26670" y="114300"/>
                </a:cubicBezTo>
                <a:lnTo>
                  <a:pt x="25400" y="130810"/>
                </a:lnTo>
                <a:cubicBezTo>
                  <a:pt x="21590" y="194310"/>
                  <a:pt x="22860" y="208280"/>
                  <a:pt x="22860" y="222250"/>
                </a:cubicBezTo>
                <a:cubicBezTo>
                  <a:pt x="24130" y="236220"/>
                  <a:pt x="24130" y="248920"/>
                  <a:pt x="20320" y="311150"/>
                </a:cubicBezTo>
                <a:lnTo>
                  <a:pt x="19050" y="328930"/>
                </a:lnTo>
                <a:lnTo>
                  <a:pt x="30480" y="316230"/>
                </a:lnTo>
                <a:cubicBezTo>
                  <a:pt x="31750" y="328930"/>
                  <a:pt x="29210" y="356870"/>
                  <a:pt x="27940" y="378460"/>
                </a:cubicBezTo>
                <a:cubicBezTo>
                  <a:pt x="26670" y="412750"/>
                  <a:pt x="22860" y="450850"/>
                  <a:pt x="25400" y="485140"/>
                </a:cubicBezTo>
                <a:lnTo>
                  <a:pt x="16510" y="457200"/>
                </a:lnTo>
                <a:lnTo>
                  <a:pt x="17780" y="504190"/>
                </a:lnTo>
                <a:cubicBezTo>
                  <a:pt x="17780" y="519430"/>
                  <a:pt x="19050" y="535940"/>
                  <a:pt x="19050" y="552450"/>
                </a:cubicBezTo>
                <a:cubicBezTo>
                  <a:pt x="16510" y="565150"/>
                  <a:pt x="13970" y="577850"/>
                  <a:pt x="12700" y="588010"/>
                </a:cubicBezTo>
                <a:lnTo>
                  <a:pt x="7620" y="588010"/>
                </a:lnTo>
                <a:cubicBezTo>
                  <a:pt x="3810" y="640080"/>
                  <a:pt x="5080" y="643890"/>
                  <a:pt x="8890" y="647700"/>
                </a:cubicBezTo>
                <a:cubicBezTo>
                  <a:pt x="10160" y="648970"/>
                  <a:pt x="12700" y="650240"/>
                  <a:pt x="13970" y="650240"/>
                </a:cubicBezTo>
                <a:cubicBezTo>
                  <a:pt x="15240" y="652780"/>
                  <a:pt x="16510" y="659130"/>
                  <a:pt x="16510" y="675640"/>
                </a:cubicBezTo>
                <a:cubicBezTo>
                  <a:pt x="15240" y="675640"/>
                  <a:pt x="13970" y="675640"/>
                  <a:pt x="11430" y="676910"/>
                </a:cubicBezTo>
                <a:cubicBezTo>
                  <a:pt x="6350" y="679450"/>
                  <a:pt x="5080" y="685800"/>
                  <a:pt x="5080" y="712470"/>
                </a:cubicBezTo>
                <a:cubicBezTo>
                  <a:pt x="3810" y="722630"/>
                  <a:pt x="5080" y="748030"/>
                  <a:pt x="7620" y="779780"/>
                </a:cubicBezTo>
                <a:cubicBezTo>
                  <a:pt x="8890" y="800100"/>
                  <a:pt x="10160" y="822960"/>
                  <a:pt x="11430" y="845820"/>
                </a:cubicBezTo>
                <a:lnTo>
                  <a:pt x="38100" y="845820"/>
                </a:lnTo>
                <a:lnTo>
                  <a:pt x="11430" y="845820"/>
                </a:lnTo>
                <a:lnTo>
                  <a:pt x="11430" y="857250"/>
                </a:lnTo>
                <a:cubicBezTo>
                  <a:pt x="7620" y="871891"/>
                  <a:pt x="6350" y="957287"/>
                  <a:pt x="6350" y="1333029"/>
                </a:cubicBezTo>
                <a:lnTo>
                  <a:pt x="10160" y="1333029"/>
                </a:lnTo>
                <a:lnTo>
                  <a:pt x="10160" y="1375727"/>
                </a:lnTo>
                <a:lnTo>
                  <a:pt x="19050" y="1384266"/>
                </a:lnTo>
                <a:lnTo>
                  <a:pt x="19050" y="1503820"/>
                </a:lnTo>
                <a:lnTo>
                  <a:pt x="12700" y="1503820"/>
                </a:lnTo>
                <a:lnTo>
                  <a:pt x="16510" y="1845403"/>
                </a:lnTo>
                <a:lnTo>
                  <a:pt x="16510" y="1896641"/>
                </a:lnTo>
                <a:cubicBezTo>
                  <a:pt x="13970" y="2212605"/>
                  <a:pt x="10160" y="2537109"/>
                  <a:pt x="16510" y="2759138"/>
                </a:cubicBezTo>
                <a:cubicBezTo>
                  <a:pt x="16510" y="2776217"/>
                  <a:pt x="16510" y="2784757"/>
                  <a:pt x="15240" y="2793296"/>
                </a:cubicBezTo>
                <a:lnTo>
                  <a:pt x="12700" y="2801836"/>
                </a:lnTo>
                <a:lnTo>
                  <a:pt x="12700" y="2835994"/>
                </a:lnTo>
                <a:cubicBezTo>
                  <a:pt x="13970" y="2921390"/>
                  <a:pt x="13970" y="3049483"/>
                  <a:pt x="15240" y="3186116"/>
                </a:cubicBezTo>
                <a:cubicBezTo>
                  <a:pt x="16510" y="3459383"/>
                  <a:pt x="19050" y="3766808"/>
                  <a:pt x="21590" y="3911981"/>
                </a:cubicBezTo>
                <a:cubicBezTo>
                  <a:pt x="21590" y="3929060"/>
                  <a:pt x="20320" y="3946139"/>
                  <a:pt x="20320" y="3954679"/>
                </a:cubicBezTo>
                <a:cubicBezTo>
                  <a:pt x="20320" y="3963218"/>
                  <a:pt x="19050" y="3971758"/>
                  <a:pt x="19050" y="3980297"/>
                </a:cubicBezTo>
                <a:lnTo>
                  <a:pt x="21590" y="3980297"/>
                </a:lnTo>
                <a:lnTo>
                  <a:pt x="21590" y="3988837"/>
                </a:lnTo>
                <a:cubicBezTo>
                  <a:pt x="15240" y="4185247"/>
                  <a:pt x="17780" y="4595147"/>
                  <a:pt x="20320" y="4962348"/>
                </a:cubicBezTo>
                <a:cubicBezTo>
                  <a:pt x="21590" y="5235616"/>
                  <a:pt x="24130" y="5577198"/>
                  <a:pt x="20320" y="5645515"/>
                </a:cubicBezTo>
                <a:lnTo>
                  <a:pt x="16510" y="5645515"/>
                </a:lnTo>
                <a:lnTo>
                  <a:pt x="17780" y="6303062"/>
                </a:lnTo>
                <a:lnTo>
                  <a:pt x="11430" y="6303062"/>
                </a:lnTo>
                <a:cubicBezTo>
                  <a:pt x="11430" y="6379919"/>
                  <a:pt x="10160" y="6448234"/>
                  <a:pt x="10160" y="6516551"/>
                </a:cubicBezTo>
                <a:lnTo>
                  <a:pt x="8890" y="6508012"/>
                </a:lnTo>
                <a:lnTo>
                  <a:pt x="10160" y="6610487"/>
                </a:lnTo>
                <a:lnTo>
                  <a:pt x="10160" y="6636106"/>
                </a:lnTo>
                <a:lnTo>
                  <a:pt x="13970" y="7276574"/>
                </a:lnTo>
                <a:lnTo>
                  <a:pt x="21590" y="7276574"/>
                </a:lnTo>
                <a:cubicBezTo>
                  <a:pt x="22860" y="7319272"/>
                  <a:pt x="22860" y="7361970"/>
                  <a:pt x="24130" y="7396127"/>
                </a:cubicBezTo>
                <a:lnTo>
                  <a:pt x="22860" y="7387588"/>
                </a:lnTo>
                <a:lnTo>
                  <a:pt x="21590" y="7524221"/>
                </a:lnTo>
                <a:cubicBezTo>
                  <a:pt x="20320" y="7660855"/>
                  <a:pt x="20320" y="7771868"/>
                  <a:pt x="20320" y="7874345"/>
                </a:cubicBezTo>
                <a:cubicBezTo>
                  <a:pt x="17780" y="7925581"/>
                  <a:pt x="15240" y="7976819"/>
                  <a:pt x="13970" y="8036596"/>
                </a:cubicBezTo>
                <a:lnTo>
                  <a:pt x="12700" y="8062215"/>
                </a:lnTo>
                <a:lnTo>
                  <a:pt x="12700" y="8079294"/>
                </a:lnTo>
                <a:cubicBezTo>
                  <a:pt x="13970" y="8087834"/>
                  <a:pt x="15240" y="8121992"/>
                  <a:pt x="16510" y="8275704"/>
                </a:cubicBezTo>
                <a:cubicBezTo>
                  <a:pt x="16510" y="8480654"/>
                  <a:pt x="19050" y="8651445"/>
                  <a:pt x="22860" y="8916173"/>
                </a:cubicBezTo>
                <a:lnTo>
                  <a:pt x="12700" y="9163820"/>
                </a:lnTo>
                <a:cubicBezTo>
                  <a:pt x="8890" y="9257756"/>
                  <a:pt x="8890" y="9283374"/>
                  <a:pt x="8890" y="9326072"/>
                </a:cubicBezTo>
                <a:cubicBezTo>
                  <a:pt x="8890" y="9360230"/>
                  <a:pt x="8890" y="9411468"/>
                  <a:pt x="5080" y="9556641"/>
                </a:cubicBezTo>
                <a:lnTo>
                  <a:pt x="8890" y="9565180"/>
                </a:lnTo>
                <a:cubicBezTo>
                  <a:pt x="10160" y="9616418"/>
                  <a:pt x="10160" y="9812828"/>
                  <a:pt x="10160" y="9940922"/>
                </a:cubicBezTo>
                <a:cubicBezTo>
                  <a:pt x="10160" y="10197108"/>
                  <a:pt x="10160" y="10291043"/>
                  <a:pt x="12700" y="10316662"/>
                </a:cubicBezTo>
                <a:cubicBezTo>
                  <a:pt x="10160" y="10436217"/>
                  <a:pt x="8890" y="10547230"/>
                  <a:pt x="8890" y="10666785"/>
                </a:cubicBezTo>
                <a:cubicBezTo>
                  <a:pt x="7620" y="10803418"/>
                  <a:pt x="7620" y="10948592"/>
                  <a:pt x="2540" y="11127922"/>
                </a:cubicBezTo>
                <a:lnTo>
                  <a:pt x="0" y="11230397"/>
                </a:lnTo>
                <a:lnTo>
                  <a:pt x="6350" y="11204779"/>
                </a:lnTo>
                <a:lnTo>
                  <a:pt x="6350" y="11367031"/>
                </a:lnTo>
                <a:cubicBezTo>
                  <a:pt x="6350" y="11375571"/>
                  <a:pt x="7620" y="11401188"/>
                  <a:pt x="8890" y="11435348"/>
                </a:cubicBezTo>
                <a:lnTo>
                  <a:pt x="8890" y="11452426"/>
                </a:lnTo>
                <a:lnTo>
                  <a:pt x="10160" y="11452426"/>
                </a:lnTo>
                <a:cubicBezTo>
                  <a:pt x="11430" y="11486584"/>
                  <a:pt x="15240" y="11486584"/>
                  <a:pt x="16510" y="11486584"/>
                </a:cubicBezTo>
                <a:cubicBezTo>
                  <a:pt x="16510" y="11759852"/>
                  <a:pt x="15240" y="12041656"/>
                  <a:pt x="13970" y="12314924"/>
                </a:cubicBezTo>
                <a:cubicBezTo>
                  <a:pt x="13970" y="12391780"/>
                  <a:pt x="12700" y="12460097"/>
                  <a:pt x="12700" y="12536952"/>
                </a:cubicBezTo>
                <a:lnTo>
                  <a:pt x="8890" y="12536952"/>
                </a:lnTo>
                <a:lnTo>
                  <a:pt x="8890" y="12657105"/>
                </a:lnTo>
                <a:lnTo>
                  <a:pt x="6350" y="12657105"/>
                </a:lnTo>
                <a:lnTo>
                  <a:pt x="6350" y="12687584"/>
                </a:lnTo>
                <a:cubicBezTo>
                  <a:pt x="3810" y="12723145"/>
                  <a:pt x="1270" y="12777755"/>
                  <a:pt x="3810" y="12812045"/>
                </a:cubicBezTo>
                <a:cubicBezTo>
                  <a:pt x="2540" y="12829824"/>
                  <a:pt x="5080" y="12851415"/>
                  <a:pt x="6350" y="12862845"/>
                </a:cubicBezTo>
                <a:lnTo>
                  <a:pt x="5080" y="12862845"/>
                </a:lnTo>
                <a:lnTo>
                  <a:pt x="8890" y="12961905"/>
                </a:lnTo>
                <a:lnTo>
                  <a:pt x="7620" y="12963174"/>
                </a:lnTo>
                <a:lnTo>
                  <a:pt x="7620" y="12966985"/>
                </a:lnTo>
                <a:cubicBezTo>
                  <a:pt x="7620" y="13001274"/>
                  <a:pt x="8890" y="13035565"/>
                  <a:pt x="8890" y="13072395"/>
                </a:cubicBezTo>
                <a:cubicBezTo>
                  <a:pt x="11430" y="13142245"/>
                  <a:pt x="12700" y="13213365"/>
                  <a:pt x="6350" y="13290834"/>
                </a:cubicBezTo>
                <a:lnTo>
                  <a:pt x="6350" y="13297184"/>
                </a:lnTo>
                <a:cubicBezTo>
                  <a:pt x="7620" y="13312425"/>
                  <a:pt x="7620" y="13327665"/>
                  <a:pt x="7620" y="13345445"/>
                </a:cubicBezTo>
                <a:lnTo>
                  <a:pt x="7620" y="13424184"/>
                </a:lnTo>
                <a:lnTo>
                  <a:pt x="2540" y="13444506"/>
                </a:lnTo>
                <a:lnTo>
                  <a:pt x="2540" y="13495306"/>
                </a:lnTo>
                <a:lnTo>
                  <a:pt x="8890" y="13495306"/>
                </a:lnTo>
                <a:cubicBezTo>
                  <a:pt x="46990" y="13495306"/>
                  <a:pt x="102870" y="13496575"/>
                  <a:pt x="118110" y="13496575"/>
                </a:cubicBezTo>
                <a:cubicBezTo>
                  <a:pt x="146050" y="13496575"/>
                  <a:pt x="161290" y="13496575"/>
                  <a:pt x="168910" y="13495306"/>
                </a:cubicBezTo>
                <a:cubicBezTo>
                  <a:pt x="189230" y="13500384"/>
                  <a:pt x="227330" y="13501656"/>
                  <a:pt x="271780" y="13501656"/>
                </a:cubicBezTo>
                <a:cubicBezTo>
                  <a:pt x="298450" y="13501656"/>
                  <a:pt x="327660" y="13501656"/>
                  <a:pt x="356870" y="13500384"/>
                </a:cubicBezTo>
                <a:cubicBezTo>
                  <a:pt x="394970" y="13499115"/>
                  <a:pt x="431800" y="13499115"/>
                  <a:pt x="457200" y="13500384"/>
                </a:cubicBezTo>
                <a:lnTo>
                  <a:pt x="461010" y="13500384"/>
                </a:lnTo>
                <a:lnTo>
                  <a:pt x="463550" y="13494034"/>
                </a:lnTo>
                <a:cubicBezTo>
                  <a:pt x="514350" y="13494034"/>
                  <a:pt x="563880" y="13492765"/>
                  <a:pt x="628650" y="13490225"/>
                </a:cubicBezTo>
                <a:lnTo>
                  <a:pt x="640080" y="13490225"/>
                </a:lnTo>
                <a:lnTo>
                  <a:pt x="638810" y="13487684"/>
                </a:lnTo>
                <a:lnTo>
                  <a:pt x="671830" y="13487684"/>
                </a:lnTo>
                <a:lnTo>
                  <a:pt x="671830" y="13482606"/>
                </a:lnTo>
                <a:cubicBezTo>
                  <a:pt x="694690" y="13482606"/>
                  <a:pt x="718820" y="13483875"/>
                  <a:pt x="745490" y="13485145"/>
                </a:cubicBezTo>
                <a:cubicBezTo>
                  <a:pt x="763270" y="13486415"/>
                  <a:pt x="781050" y="13486415"/>
                  <a:pt x="798830" y="13487684"/>
                </a:cubicBezTo>
                <a:lnTo>
                  <a:pt x="798830" y="13499115"/>
                </a:lnTo>
                <a:lnTo>
                  <a:pt x="1496673" y="13499115"/>
                </a:lnTo>
                <a:cubicBezTo>
                  <a:pt x="1728353" y="13499115"/>
                  <a:pt x="1947838" y="13497845"/>
                  <a:pt x="2179518" y="13496575"/>
                </a:cubicBezTo>
                <a:cubicBezTo>
                  <a:pt x="2679458" y="13494034"/>
                  <a:pt x="3155011" y="13491495"/>
                  <a:pt x="3593983" y="13495306"/>
                </a:cubicBezTo>
                <a:cubicBezTo>
                  <a:pt x="3801276" y="13494034"/>
                  <a:pt x="3959793" y="13494034"/>
                  <a:pt x="4093924" y="13495306"/>
                </a:cubicBezTo>
                <a:lnTo>
                  <a:pt x="4093924" y="13496575"/>
                </a:lnTo>
                <a:lnTo>
                  <a:pt x="4179279" y="13496575"/>
                </a:lnTo>
                <a:lnTo>
                  <a:pt x="4496315" y="13499115"/>
                </a:lnTo>
                <a:lnTo>
                  <a:pt x="4496315" y="13495306"/>
                </a:lnTo>
                <a:cubicBezTo>
                  <a:pt x="4630445" y="13495306"/>
                  <a:pt x="4776769" y="13494034"/>
                  <a:pt x="4935286" y="13494034"/>
                </a:cubicBezTo>
                <a:lnTo>
                  <a:pt x="5045030" y="13500384"/>
                </a:lnTo>
                <a:lnTo>
                  <a:pt x="5118191" y="13500384"/>
                </a:lnTo>
                <a:cubicBezTo>
                  <a:pt x="5276709" y="13501656"/>
                  <a:pt x="5349871" y="13501656"/>
                  <a:pt x="5374259" y="13494034"/>
                </a:cubicBezTo>
                <a:lnTo>
                  <a:pt x="5374259" y="13491495"/>
                </a:lnTo>
                <a:cubicBezTo>
                  <a:pt x="5435228" y="13490225"/>
                  <a:pt x="5496196" y="13490225"/>
                  <a:pt x="5544970" y="13488956"/>
                </a:cubicBezTo>
                <a:cubicBezTo>
                  <a:pt x="5666906" y="13494034"/>
                  <a:pt x="5825424" y="13492765"/>
                  <a:pt x="6008329" y="13492765"/>
                </a:cubicBezTo>
                <a:cubicBezTo>
                  <a:pt x="6191234" y="13491495"/>
                  <a:pt x="6386333" y="13491495"/>
                  <a:pt x="6520463" y="13496575"/>
                </a:cubicBezTo>
                <a:lnTo>
                  <a:pt x="6532657" y="13497845"/>
                </a:lnTo>
                <a:lnTo>
                  <a:pt x="6557045" y="13497845"/>
                </a:lnTo>
                <a:cubicBezTo>
                  <a:pt x="6618012" y="13496575"/>
                  <a:pt x="6861886" y="13495306"/>
                  <a:pt x="7093566" y="13494034"/>
                </a:cubicBezTo>
                <a:cubicBezTo>
                  <a:pt x="7313051" y="13492765"/>
                  <a:pt x="7556925" y="13491495"/>
                  <a:pt x="7752024" y="13490225"/>
                </a:cubicBezTo>
                <a:cubicBezTo>
                  <a:pt x="7788604" y="13492765"/>
                  <a:pt x="7873960" y="13494034"/>
                  <a:pt x="7947123" y="13494034"/>
                </a:cubicBezTo>
                <a:cubicBezTo>
                  <a:pt x="8227576" y="13492765"/>
                  <a:pt x="8544613" y="13491495"/>
                  <a:pt x="8934810" y="13491495"/>
                </a:cubicBezTo>
                <a:lnTo>
                  <a:pt x="8947003" y="13492765"/>
                </a:lnTo>
                <a:lnTo>
                  <a:pt x="9007972" y="13491495"/>
                </a:lnTo>
                <a:cubicBezTo>
                  <a:pt x="9264038" y="13491495"/>
                  <a:pt x="9520106" y="13492765"/>
                  <a:pt x="9776171" y="13492765"/>
                </a:cubicBezTo>
                <a:lnTo>
                  <a:pt x="9776171" y="13495306"/>
                </a:lnTo>
                <a:lnTo>
                  <a:pt x="9983465" y="13492765"/>
                </a:lnTo>
                <a:lnTo>
                  <a:pt x="10081013" y="13492765"/>
                </a:lnTo>
                <a:cubicBezTo>
                  <a:pt x="10678504" y="13494034"/>
                  <a:pt x="11300380" y="13495306"/>
                  <a:pt x="11934452" y="13495306"/>
                </a:cubicBezTo>
                <a:lnTo>
                  <a:pt x="11958839" y="13495306"/>
                </a:lnTo>
                <a:lnTo>
                  <a:pt x="11995421" y="13490225"/>
                </a:lnTo>
                <a:lnTo>
                  <a:pt x="11995421" y="13485145"/>
                </a:lnTo>
                <a:lnTo>
                  <a:pt x="12019807" y="13485145"/>
                </a:lnTo>
                <a:lnTo>
                  <a:pt x="12775814" y="13496575"/>
                </a:lnTo>
                <a:cubicBezTo>
                  <a:pt x="12885557" y="13496575"/>
                  <a:pt x="12946524" y="13494034"/>
                  <a:pt x="13019687" y="13492765"/>
                </a:cubicBezTo>
                <a:cubicBezTo>
                  <a:pt x="13129430" y="13490225"/>
                  <a:pt x="13226980" y="13486415"/>
                  <a:pt x="13544015" y="13491495"/>
                </a:cubicBezTo>
                <a:lnTo>
                  <a:pt x="13544015" y="13488956"/>
                </a:lnTo>
                <a:lnTo>
                  <a:pt x="14300022" y="13488956"/>
                </a:lnTo>
                <a:cubicBezTo>
                  <a:pt x="15190161" y="13488956"/>
                  <a:pt x="16214427" y="13488956"/>
                  <a:pt x="17007016" y="13494034"/>
                </a:cubicBezTo>
                <a:lnTo>
                  <a:pt x="17336244" y="13495306"/>
                </a:lnTo>
                <a:lnTo>
                  <a:pt x="17202116" y="13488956"/>
                </a:lnTo>
                <a:lnTo>
                  <a:pt x="17275276" y="13488956"/>
                </a:lnTo>
                <a:cubicBezTo>
                  <a:pt x="17580118" y="13491495"/>
                  <a:pt x="17689590" y="13492765"/>
                  <a:pt x="17697210" y="13488956"/>
                </a:cubicBezTo>
                <a:lnTo>
                  <a:pt x="17697210" y="13490225"/>
                </a:lnTo>
                <a:cubicBezTo>
                  <a:pt x="17698479" y="13490225"/>
                  <a:pt x="17698479" y="13490225"/>
                  <a:pt x="17699749" y="13488956"/>
                </a:cubicBezTo>
                <a:cubicBezTo>
                  <a:pt x="17701020" y="13488956"/>
                  <a:pt x="17702290" y="13490225"/>
                  <a:pt x="17704829" y="13490225"/>
                </a:cubicBezTo>
                <a:lnTo>
                  <a:pt x="17704829" y="13496575"/>
                </a:lnTo>
                <a:cubicBezTo>
                  <a:pt x="17740390" y="13495306"/>
                  <a:pt x="17769599" y="13495306"/>
                  <a:pt x="17794999" y="13496575"/>
                </a:cubicBezTo>
                <a:cubicBezTo>
                  <a:pt x="17824210" y="13497845"/>
                  <a:pt x="17850879" y="13497845"/>
                  <a:pt x="17878820" y="13495306"/>
                </a:cubicBezTo>
                <a:cubicBezTo>
                  <a:pt x="17880090" y="13496575"/>
                  <a:pt x="17881360" y="13499115"/>
                  <a:pt x="17885170" y="13500384"/>
                </a:cubicBezTo>
                <a:lnTo>
                  <a:pt x="17887710" y="13500384"/>
                </a:lnTo>
                <a:cubicBezTo>
                  <a:pt x="17891520" y="13500384"/>
                  <a:pt x="17894060" y="13499115"/>
                  <a:pt x="17896599" y="13499115"/>
                </a:cubicBezTo>
                <a:lnTo>
                  <a:pt x="17896599" y="13504195"/>
                </a:lnTo>
                <a:cubicBezTo>
                  <a:pt x="17965179" y="13504195"/>
                  <a:pt x="17986770" y="13496575"/>
                  <a:pt x="17996929" y="13490225"/>
                </a:cubicBezTo>
                <a:cubicBezTo>
                  <a:pt x="18051540" y="13491495"/>
                  <a:pt x="18099799" y="13494034"/>
                  <a:pt x="18146790" y="13497845"/>
                </a:cubicBezTo>
                <a:lnTo>
                  <a:pt x="18146790" y="13492765"/>
                </a:lnTo>
                <a:lnTo>
                  <a:pt x="18164570" y="13492765"/>
                </a:lnTo>
                <a:lnTo>
                  <a:pt x="18164570" y="13488956"/>
                </a:lnTo>
                <a:lnTo>
                  <a:pt x="18239499" y="13488956"/>
                </a:lnTo>
                <a:lnTo>
                  <a:pt x="18286490" y="13491495"/>
                </a:lnTo>
                <a:lnTo>
                  <a:pt x="18287760" y="13491495"/>
                </a:lnTo>
                <a:cubicBezTo>
                  <a:pt x="18297920" y="13487684"/>
                  <a:pt x="18332210" y="13487684"/>
                  <a:pt x="18363960" y="13487684"/>
                </a:cubicBezTo>
                <a:cubicBezTo>
                  <a:pt x="18391899" y="13487684"/>
                  <a:pt x="18417299" y="13487684"/>
                  <a:pt x="18428729" y="13485145"/>
                </a:cubicBezTo>
                <a:lnTo>
                  <a:pt x="18492229" y="13485145"/>
                </a:lnTo>
                <a:lnTo>
                  <a:pt x="18492229" y="13478795"/>
                </a:lnTo>
                <a:lnTo>
                  <a:pt x="18508740" y="13478795"/>
                </a:lnTo>
                <a:lnTo>
                  <a:pt x="18508740" y="13472445"/>
                </a:lnTo>
                <a:cubicBezTo>
                  <a:pt x="18508740" y="13462284"/>
                  <a:pt x="18508740" y="13450856"/>
                  <a:pt x="18510010" y="13438156"/>
                </a:cubicBezTo>
                <a:lnTo>
                  <a:pt x="18510010" y="13425456"/>
                </a:lnTo>
                <a:cubicBezTo>
                  <a:pt x="18510010" y="13415295"/>
                  <a:pt x="18510010" y="13407675"/>
                  <a:pt x="18511279" y="13398784"/>
                </a:cubicBezTo>
                <a:lnTo>
                  <a:pt x="18512549" y="13382275"/>
                </a:lnTo>
                <a:cubicBezTo>
                  <a:pt x="18516360" y="13318775"/>
                  <a:pt x="18515090" y="13304806"/>
                  <a:pt x="18515090" y="13290834"/>
                </a:cubicBezTo>
                <a:cubicBezTo>
                  <a:pt x="18513819" y="13276865"/>
                  <a:pt x="18513819" y="13264165"/>
                  <a:pt x="18517629" y="13201934"/>
                </a:cubicBezTo>
                <a:lnTo>
                  <a:pt x="18518899" y="13184156"/>
                </a:lnTo>
                <a:lnTo>
                  <a:pt x="18507469" y="13196856"/>
                </a:lnTo>
                <a:cubicBezTo>
                  <a:pt x="18506199" y="13184156"/>
                  <a:pt x="18508740" y="13156215"/>
                  <a:pt x="18510010" y="13134625"/>
                </a:cubicBezTo>
                <a:cubicBezTo>
                  <a:pt x="18512549" y="13101606"/>
                  <a:pt x="18516360" y="13063506"/>
                  <a:pt x="18513819" y="13029215"/>
                </a:cubicBezTo>
                <a:lnTo>
                  <a:pt x="18522710" y="13057156"/>
                </a:lnTo>
                <a:lnTo>
                  <a:pt x="18521440" y="13010165"/>
                </a:lnTo>
                <a:cubicBezTo>
                  <a:pt x="18521440" y="12994924"/>
                  <a:pt x="18520169" y="12978415"/>
                  <a:pt x="18520169" y="12961905"/>
                </a:cubicBezTo>
                <a:cubicBezTo>
                  <a:pt x="18522710" y="12949205"/>
                  <a:pt x="18525249" y="12936505"/>
                  <a:pt x="18526519" y="12926345"/>
                </a:cubicBezTo>
                <a:lnTo>
                  <a:pt x="18531599" y="12926345"/>
                </a:lnTo>
                <a:cubicBezTo>
                  <a:pt x="18535410" y="12874274"/>
                  <a:pt x="18534140" y="12870465"/>
                  <a:pt x="18530329" y="12866655"/>
                </a:cubicBezTo>
                <a:cubicBezTo>
                  <a:pt x="18529060" y="12865385"/>
                  <a:pt x="18526519" y="12864115"/>
                  <a:pt x="18525249" y="12864115"/>
                </a:cubicBezTo>
                <a:cubicBezTo>
                  <a:pt x="18523979" y="12861574"/>
                  <a:pt x="18522710" y="12855224"/>
                  <a:pt x="18522710" y="12838715"/>
                </a:cubicBezTo>
                <a:cubicBezTo>
                  <a:pt x="18523979" y="12838715"/>
                  <a:pt x="18525249" y="12838715"/>
                  <a:pt x="18527790" y="12837445"/>
                </a:cubicBezTo>
                <a:cubicBezTo>
                  <a:pt x="18532869" y="12834905"/>
                  <a:pt x="18534140" y="12828555"/>
                  <a:pt x="18534140" y="12801885"/>
                </a:cubicBezTo>
                <a:cubicBezTo>
                  <a:pt x="18535410" y="12791724"/>
                  <a:pt x="18534140" y="12766324"/>
                  <a:pt x="18531599" y="12734574"/>
                </a:cubicBezTo>
                <a:cubicBezTo>
                  <a:pt x="18530329" y="12714255"/>
                  <a:pt x="18529060" y="12691395"/>
                  <a:pt x="18527790" y="12668535"/>
                </a:cubicBezTo>
                <a:lnTo>
                  <a:pt x="18527790" y="12645674"/>
                </a:lnTo>
                <a:cubicBezTo>
                  <a:pt x="18532869" y="12622348"/>
                  <a:pt x="18534140" y="12511335"/>
                  <a:pt x="18532869" y="12186830"/>
                </a:cubicBezTo>
                <a:lnTo>
                  <a:pt x="18529060" y="12186830"/>
                </a:lnTo>
                <a:lnTo>
                  <a:pt x="18529060" y="12144132"/>
                </a:lnTo>
                <a:lnTo>
                  <a:pt x="18520169" y="12135592"/>
                </a:lnTo>
                <a:lnTo>
                  <a:pt x="18520169" y="12016038"/>
                </a:lnTo>
                <a:lnTo>
                  <a:pt x="18526519" y="12016038"/>
                </a:lnTo>
                <a:lnTo>
                  <a:pt x="18522710" y="11674455"/>
                </a:lnTo>
                <a:lnTo>
                  <a:pt x="18522710" y="11623218"/>
                </a:lnTo>
                <a:cubicBezTo>
                  <a:pt x="18525249" y="11307254"/>
                  <a:pt x="18529060" y="10982750"/>
                  <a:pt x="18522710" y="10760721"/>
                </a:cubicBezTo>
                <a:cubicBezTo>
                  <a:pt x="18522710" y="10743643"/>
                  <a:pt x="18522710" y="10735103"/>
                  <a:pt x="18523979" y="10726562"/>
                </a:cubicBezTo>
                <a:lnTo>
                  <a:pt x="18526519" y="10718023"/>
                </a:lnTo>
                <a:lnTo>
                  <a:pt x="18526519" y="10683865"/>
                </a:lnTo>
                <a:cubicBezTo>
                  <a:pt x="18525249" y="10598468"/>
                  <a:pt x="18525249" y="10470375"/>
                  <a:pt x="18523979" y="10333743"/>
                </a:cubicBezTo>
                <a:cubicBezTo>
                  <a:pt x="18522710" y="10060476"/>
                  <a:pt x="18520169" y="9753051"/>
                  <a:pt x="18517629" y="9607879"/>
                </a:cubicBezTo>
                <a:cubicBezTo>
                  <a:pt x="18517629" y="9590800"/>
                  <a:pt x="18518899" y="9573719"/>
                  <a:pt x="18518899" y="9565180"/>
                </a:cubicBezTo>
                <a:cubicBezTo>
                  <a:pt x="18518899" y="9556641"/>
                  <a:pt x="18518899" y="9548102"/>
                  <a:pt x="18520169" y="9548102"/>
                </a:cubicBezTo>
                <a:lnTo>
                  <a:pt x="18515090" y="9531022"/>
                </a:lnTo>
                <a:lnTo>
                  <a:pt x="18521440" y="9539562"/>
                </a:lnTo>
                <a:lnTo>
                  <a:pt x="18522710" y="9531022"/>
                </a:lnTo>
                <a:lnTo>
                  <a:pt x="18522710" y="9522483"/>
                </a:lnTo>
                <a:cubicBezTo>
                  <a:pt x="18529060" y="9326072"/>
                  <a:pt x="18526519" y="8916173"/>
                  <a:pt x="18523979" y="8548970"/>
                </a:cubicBezTo>
                <a:cubicBezTo>
                  <a:pt x="18522710" y="8275704"/>
                  <a:pt x="18520169" y="7934121"/>
                  <a:pt x="18523979" y="7865804"/>
                </a:cubicBezTo>
                <a:lnTo>
                  <a:pt x="18527790" y="7865804"/>
                </a:lnTo>
                <a:lnTo>
                  <a:pt x="18526519" y="7208258"/>
                </a:lnTo>
                <a:lnTo>
                  <a:pt x="18532869" y="7208258"/>
                </a:lnTo>
                <a:cubicBezTo>
                  <a:pt x="18532869" y="7139940"/>
                  <a:pt x="18534140" y="7063085"/>
                  <a:pt x="18534140" y="6994767"/>
                </a:cubicBezTo>
                <a:lnTo>
                  <a:pt x="18535410" y="7011847"/>
                </a:lnTo>
                <a:lnTo>
                  <a:pt x="18534140" y="6900834"/>
                </a:lnTo>
                <a:lnTo>
                  <a:pt x="18534140" y="6883753"/>
                </a:lnTo>
                <a:lnTo>
                  <a:pt x="18530329" y="6243285"/>
                </a:lnTo>
                <a:lnTo>
                  <a:pt x="18522710" y="6243285"/>
                </a:lnTo>
                <a:cubicBezTo>
                  <a:pt x="18521440" y="6200587"/>
                  <a:pt x="18521440" y="6157889"/>
                  <a:pt x="18520169" y="6123731"/>
                </a:cubicBezTo>
                <a:lnTo>
                  <a:pt x="18521440" y="6132271"/>
                </a:lnTo>
                <a:lnTo>
                  <a:pt x="18522710" y="5995638"/>
                </a:lnTo>
                <a:cubicBezTo>
                  <a:pt x="18523979" y="5859005"/>
                  <a:pt x="18523979" y="5747990"/>
                  <a:pt x="18523979" y="5645515"/>
                </a:cubicBezTo>
                <a:cubicBezTo>
                  <a:pt x="18526519" y="5594278"/>
                  <a:pt x="18529060" y="5543041"/>
                  <a:pt x="18530329" y="5483263"/>
                </a:cubicBezTo>
                <a:lnTo>
                  <a:pt x="18531599" y="5457645"/>
                </a:lnTo>
                <a:lnTo>
                  <a:pt x="18527790" y="5440565"/>
                </a:lnTo>
                <a:cubicBezTo>
                  <a:pt x="18527790" y="5432026"/>
                  <a:pt x="18525249" y="5397867"/>
                  <a:pt x="18523979" y="5244155"/>
                </a:cubicBezTo>
                <a:cubicBezTo>
                  <a:pt x="18523979" y="5039205"/>
                  <a:pt x="18521440" y="4876953"/>
                  <a:pt x="18517629" y="4603687"/>
                </a:cubicBezTo>
                <a:lnTo>
                  <a:pt x="18527790" y="4356039"/>
                </a:lnTo>
                <a:cubicBezTo>
                  <a:pt x="18531599" y="4262104"/>
                  <a:pt x="18531599" y="4236485"/>
                  <a:pt x="18531599" y="4193787"/>
                </a:cubicBezTo>
                <a:cubicBezTo>
                  <a:pt x="18531599" y="4159629"/>
                  <a:pt x="18531599" y="4108392"/>
                  <a:pt x="18535410" y="3963219"/>
                </a:cubicBezTo>
                <a:lnTo>
                  <a:pt x="18531599" y="3954679"/>
                </a:lnTo>
                <a:cubicBezTo>
                  <a:pt x="18530329" y="3903442"/>
                  <a:pt x="18530329" y="3707032"/>
                  <a:pt x="18530329" y="3578938"/>
                </a:cubicBezTo>
                <a:cubicBezTo>
                  <a:pt x="18530329" y="3322750"/>
                  <a:pt x="18530329" y="3228815"/>
                  <a:pt x="18527790" y="3203197"/>
                </a:cubicBezTo>
                <a:cubicBezTo>
                  <a:pt x="18530329" y="3083642"/>
                  <a:pt x="18531599" y="2972628"/>
                  <a:pt x="18531599" y="2853074"/>
                </a:cubicBezTo>
                <a:cubicBezTo>
                  <a:pt x="18531599" y="2716440"/>
                  <a:pt x="18531599" y="2571268"/>
                  <a:pt x="18536679" y="2391937"/>
                </a:cubicBezTo>
                <a:close/>
                <a:moveTo>
                  <a:pt x="27940" y="495300"/>
                </a:moveTo>
                <a:lnTo>
                  <a:pt x="27940" y="488950"/>
                </a:lnTo>
                <a:lnTo>
                  <a:pt x="29210" y="488950"/>
                </a:lnTo>
                <a:cubicBezTo>
                  <a:pt x="27940" y="491490"/>
                  <a:pt x="27940" y="492760"/>
                  <a:pt x="27940" y="495300"/>
                </a:cubicBezTo>
                <a:close/>
                <a:moveTo>
                  <a:pt x="38100" y="12886974"/>
                </a:moveTo>
                <a:cubicBezTo>
                  <a:pt x="38100" y="12883165"/>
                  <a:pt x="36830" y="12880624"/>
                  <a:pt x="36830" y="12878085"/>
                </a:cubicBezTo>
                <a:lnTo>
                  <a:pt x="38100" y="12878085"/>
                </a:lnTo>
                <a:lnTo>
                  <a:pt x="38100" y="12886974"/>
                </a:lnTo>
                <a:close/>
                <a:moveTo>
                  <a:pt x="18461749" y="546100"/>
                </a:moveTo>
                <a:lnTo>
                  <a:pt x="18463020" y="577850"/>
                </a:lnTo>
                <a:lnTo>
                  <a:pt x="18454129" y="563880"/>
                </a:lnTo>
                <a:lnTo>
                  <a:pt x="18456670" y="591820"/>
                </a:lnTo>
                <a:cubicBezTo>
                  <a:pt x="18461749" y="647700"/>
                  <a:pt x="18460479" y="669290"/>
                  <a:pt x="18459210" y="718820"/>
                </a:cubicBezTo>
                <a:lnTo>
                  <a:pt x="18457940" y="741680"/>
                </a:lnTo>
                <a:lnTo>
                  <a:pt x="18455399" y="762000"/>
                </a:lnTo>
                <a:cubicBezTo>
                  <a:pt x="18452860" y="786130"/>
                  <a:pt x="18452860" y="817880"/>
                  <a:pt x="18454129" y="843280"/>
                </a:cubicBezTo>
                <a:lnTo>
                  <a:pt x="18450320" y="843280"/>
                </a:lnTo>
                <a:lnTo>
                  <a:pt x="18450320" y="1034144"/>
                </a:lnTo>
                <a:lnTo>
                  <a:pt x="18454129" y="1034144"/>
                </a:lnTo>
                <a:lnTo>
                  <a:pt x="18459210" y="1512360"/>
                </a:lnTo>
                <a:lnTo>
                  <a:pt x="18454129" y="1512360"/>
                </a:lnTo>
                <a:cubicBezTo>
                  <a:pt x="18454129" y="1555058"/>
                  <a:pt x="18454129" y="1589216"/>
                  <a:pt x="18455399" y="1631914"/>
                </a:cubicBezTo>
                <a:lnTo>
                  <a:pt x="18446510" y="1631914"/>
                </a:lnTo>
                <a:lnTo>
                  <a:pt x="18446510" y="1648993"/>
                </a:lnTo>
                <a:lnTo>
                  <a:pt x="18451590" y="2332159"/>
                </a:lnTo>
                <a:cubicBezTo>
                  <a:pt x="18450320" y="2357778"/>
                  <a:pt x="18450320" y="2400476"/>
                  <a:pt x="18449049" y="2460253"/>
                </a:cubicBezTo>
                <a:cubicBezTo>
                  <a:pt x="18447779" y="2511490"/>
                  <a:pt x="18446510" y="2588346"/>
                  <a:pt x="18445240" y="2605426"/>
                </a:cubicBezTo>
                <a:lnTo>
                  <a:pt x="18443970" y="2605426"/>
                </a:lnTo>
                <a:cubicBezTo>
                  <a:pt x="18442699" y="2793296"/>
                  <a:pt x="18443970" y="3015325"/>
                  <a:pt x="18446510" y="3254433"/>
                </a:cubicBezTo>
                <a:cubicBezTo>
                  <a:pt x="18449049" y="3527700"/>
                  <a:pt x="18451590" y="3818045"/>
                  <a:pt x="18449049" y="4091312"/>
                </a:cubicBezTo>
                <a:lnTo>
                  <a:pt x="18449049" y="4108391"/>
                </a:lnTo>
                <a:cubicBezTo>
                  <a:pt x="18450320" y="4134010"/>
                  <a:pt x="18450320" y="4202326"/>
                  <a:pt x="18451590" y="4287722"/>
                </a:cubicBezTo>
                <a:cubicBezTo>
                  <a:pt x="18451590" y="4424355"/>
                  <a:pt x="18450320" y="4552449"/>
                  <a:pt x="18450320" y="4689082"/>
                </a:cubicBezTo>
                <a:cubicBezTo>
                  <a:pt x="18449049" y="5022125"/>
                  <a:pt x="18446510" y="5372248"/>
                  <a:pt x="18451590" y="5790687"/>
                </a:cubicBezTo>
                <a:lnTo>
                  <a:pt x="18442699" y="6123731"/>
                </a:lnTo>
                <a:lnTo>
                  <a:pt x="18442699" y="6132270"/>
                </a:lnTo>
                <a:cubicBezTo>
                  <a:pt x="18442699" y="6260364"/>
                  <a:pt x="18443970" y="6303062"/>
                  <a:pt x="18450320" y="6311602"/>
                </a:cubicBezTo>
                <a:cubicBezTo>
                  <a:pt x="18452860" y="6311602"/>
                  <a:pt x="18454129" y="6311602"/>
                  <a:pt x="18456670" y="6294523"/>
                </a:cubicBezTo>
                <a:cubicBezTo>
                  <a:pt x="18456670" y="6337221"/>
                  <a:pt x="18456670" y="6379919"/>
                  <a:pt x="18457940" y="6448234"/>
                </a:cubicBezTo>
                <a:cubicBezTo>
                  <a:pt x="18459210" y="6627566"/>
                  <a:pt x="18457940" y="6695883"/>
                  <a:pt x="18457940" y="6730040"/>
                </a:cubicBezTo>
                <a:cubicBezTo>
                  <a:pt x="18456670" y="6730040"/>
                  <a:pt x="18455399" y="6730040"/>
                  <a:pt x="18452860" y="6738581"/>
                </a:cubicBezTo>
                <a:cubicBezTo>
                  <a:pt x="18449049" y="6755660"/>
                  <a:pt x="18447779" y="6789817"/>
                  <a:pt x="18447779" y="6832515"/>
                </a:cubicBezTo>
                <a:lnTo>
                  <a:pt x="18449049" y="6892293"/>
                </a:lnTo>
                <a:cubicBezTo>
                  <a:pt x="18452860" y="7080164"/>
                  <a:pt x="18456670" y="7327811"/>
                  <a:pt x="18456670" y="7609617"/>
                </a:cubicBezTo>
                <a:lnTo>
                  <a:pt x="18455399" y="7609617"/>
                </a:lnTo>
                <a:lnTo>
                  <a:pt x="18455399" y="7566919"/>
                </a:lnTo>
                <a:cubicBezTo>
                  <a:pt x="18454129" y="7387588"/>
                  <a:pt x="18452860" y="7370509"/>
                  <a:pt x="18446510" y="7370509"/>
                </a:cubicBezTo>
                <a:cubicBezTo>
                  <a:pt x="18438890" y="7370509"/>
                  <a:pt x="18438890" y="7404668"/>
                  <a:pt x="18436349" y="7558379"/>
                </a:cubicBezTo>
                <a:lnTo>
                  <a:pt x="18435079" y="7583998"/>
                </a:lnTo>
                <a:lnTo>
                  <a:pt x="18438890" y="7601077"/>
                </a:lnTo>
                <a:cubicBezTo>
                  <a:pt x="18445240" y="7652315"/>
                  <a:pt x="18445240" y="8036596"/>
                  <a:pt x="18445240" y="8326941"/>
                </a:cubicBezTo>
                <a:cubicBezTo>
                  <a:pt x="18445240" y="8830776"/>
                  <a:pt x="18447779" y="9035726"/>
                  <a:pt x="18454129" y="9095503"/>
                </a:cubicBezTo>
                <a:lnTo>
                  <a:pt x="18452860" y="9172359"/>
                </a:lnTo>
                <a:lnTo>
                  <a:pt x="18450320" y="9172359"/>
                </a:lnTo>
                <a:cubicBezTo>
                  <a:pt x="18446510" y="9420007"/>
                  <a:pt x="18449049" y="9513942"/>
                  <a:pt x="18452860" y="9624957"/>
                </a:cubicBezTo>
                <a:cubicBezTo>
                  <a:pt x="18456670" y="9727432"/>
                  <a:pt x="18460479" y="9846986"/>
                  <a:pt x="18459210" y="10154411"/>
                </a:cubicBezTo>
                <a:cubicBezTo>
                  <a:pt x="18457940" y="10265426"/>
                  <a:pt x="18457940" y="10342281"/>
                  <a:pt x="18456670" y="10376439"/>
                </a:cubicBezTo>
                <a:lnTo>
                  <a:pt x="18452860" y="10376439"/>
                </a:lnTo>
                <a:lnTo>
                  <a:pt x="18456670" y="10854656"/>
                </a:lnTo>
                <a:lnTo>
                  <a:pt x="18456670" y="10880275"/>
                </a:lnTo>
                <a:lnTo>
                  <a:pt x="18454129" y="10880275"/>
                </a:lnTo>
                <a:lnTo>
                  <a:pt x="18455399" y="11401188"/>
                </a:lnTo>
                <a:lnTo>
                  <a:pt x="18450320" y="11341411"/>
                </a:lnTo>
                <a:lnTo>
                  <a:pt x="18455399" y="11554901"/>
                </a:lnTo>
                <a:cubicBezTo>
                  <a:pt x="18456670" y="11614678"/>
                  <a:pt x="18459210" y="11717152"/>
                  <a:pt x="18460479" y="11811088"/>
                </a:cubicBezTo>
                <a:lnTo>
                  <a:pt x="18456670" y="11905024"/>
                </a:lnTo>
                <a:cubicBezTo>
                  <a:pt x="18447779" y="12101433"/>
                  <a:pt x="18449049" y="12195369"/>
                  <a:pt x="18450320" y="12340542"/>
                </a:cubicBezTo>
                <a:cubicBezTo>
                  <a:pt x="18451590" y="12400318"/>
                  <a:pt x="18451590" y="12468635"/>
                  <a:pt x="18452860" y="12562571"/>
                </a:cubicBezTo>
                <a:lnTo>
                  <a:pt x="18447779" y="12648215"/>
                </a:lnTo>
                <a:cubicBezTo>
                  <a:pt x="18446510" y="12652024"/>
                  <a:pt x="18446510" y="12654565"/>
                  <a:pt x="18445240" y="12658374"/>
                </a:cubicBezTo>
                <a:lnTo>
                  <a:pt x="18452860" y="12658374"/>
                </a:lnTo>
                <a:lnTo>
                  <a:pt x="18452860" y="12668534"/>
                </a:lnTo>
                <a:lnTo>
                  <a:pt x="18447779" y="12668534"/>
                </a:lnTo>
                <a:cubicBezTo>
                  <a:pt x="18445240" y="12681234"/>
                  <a:pt x="18443970" y="12702824"/>
                  <a:pt x="18442699" y="12730765"/>
                </a:cubicBezTo>
                <a:cubicBezTo>
                  <a:pt x="18441429" y="12751085"/>
                  <a:pt x="18441429" y="12772674"/>
                  <a:pt x="18438890" y="12798074"/>
                </a:cubicBezTo>
                <a:lnTo>
                  <a:pt x="18451590" y="12799345"/>
                </a:lnTo>
                <a:cubicBezTo>
                  <a:pt x="18452860" y="12796805"/>
                  <a:pt x="18452860" y="12790455"/>
                  <a:pt x="18454129" y="12784105"/>
                </a:cubicBezTo>
                <a:lnTo>
                  <a:pt x="18457940" y="12784105"/>
                </a:lnTo>
                <a:cubicBezTo>
                  <a:pt x="18457940" y="12791724"/>
                  <a:pt x="18459210" y="12800615"/>
                  <a:pt x="18460479" y="12809505"/>
                </a:cubicBezTo>
                <a:cubicBezTo>
                  <a:pt x="18455399" y="12815855"/>
                  <a:pt x="18455399" y="12833635"/>
                  <a:pt x="18456670" y="12871735"/>
                </a:cubicBezTo>
                <a:lnTo>
                  <a:pt x="18456670" y="12881895"/>
                </a:lnTo>
                <a:lnTo>
                  <a:pt x="18447779" y="12879355"/>
                </a:lnTo>
                <a:lnTo>
                  <a:pt x="18447779" y="12889515"/>
                </a:lnTo>
                <a:cubicBezTo>
                  <a:pt x="18449049" y="12919995"/>
                  <a:pt x="18451590" y="12928885"/>
                  <a:pt x="18454129" y="12940315"/>
                </a:cubicBezTo>
                <a:cubicBezTo>
                  <a:pt x="18455399" y="12945395"/>
                  <a:pt x="18456670" y="12951745"/>
                  <a:pt x="18457940" y="12960635"/>
                </a:cubicBezTo>
                <a:cubicBezTo>
                  <a:pt x="18456670" y="13007625"/>
                  <a:pt x="18451590" y="13020325"/>
                  <a:pt x="18446510" y="13030484"/>
                </a:cubicBezTo>
                <a:lnTo>
                  <a:pt x="18445240" y="13033025"/>
                </a:lnTo>
                <a:lnTo>
                  <a:pt x="18445240" y="13035565"/>
                </a:lnTo>
                <a:cubicBezTo>
                  <a:pt x="18445240" y="13064775"/>
                  <a:pt x="18445240" y="13068584"/>
                  <a:pt x="18451590" y="13069856"/>
                </a:cubicBezTo>
                <a:cubicBezTo>
                  <a:pt x="18454129" y="13069856"/>
                  <a:pt x="18455399" y="13069856"/>
                  <a:pt x="18456670" y="13068584"/>
                </a:cubicBezTo>
                <a:lnTo>
                  <a:pt x="18456670" y="13076206"/>
                </a:lnTo>
                <a:cubicBezTo>
                  <a:pt x="18454129" y="13142245"/>
                  <a:pt x="18456670" y="13190506"/>
                  <a:pt x="18460479" y="13264165"/>
                </a:cubicBezTo>
                <a:lnTo>
                  <a:pt x="18461749" y="13276865"/>
                </a:lnTo>
                <a:cubicBezTo>
                  <a:pt x="18455399" y="13276865"/>
                  <a:pt x="18455399" y="13283215"/>
                  <a:pt x="18454129" y="13285756"/>
                </a:cubicBezTo>
                <a:lnTo>
                  <a:pt x="18454129" y="13287025"/>
                </a:lnTo>
                <a:lnTo>
                  <a:pt x="18457940" y="13312425"/>
                </a:lnTo>
                <a:lnTo>
                  <a:pt x="18455399" y="13308615"/>
                </a:lnTo>
                <a:lnTo>
                  <a:pt x="18456670" y="13336556"/>
                </a:lnTo>
                <a:cubicBezTo>
                  <a:pt x="18457940" y="13353065"/>
                  <a:pt x="18459210" y="13356875"/>
                  <a:pt x="18461749" y="13360684"/>
                </a:cubicBezTo>
                <a:cubicBezTo>
                  <a:pt x="18463020" y="13363225"/>
                  <a:pt x="18465560" y="13365765"/>
                  <a:pt x="18466829" y="13396245"/>
                </a:cubicBezTo>
                <a:lnTo>
                  <a:pt x="18466829" y="13398784"/>
                </a:lnTo>
                <a:cubicBezTo>
                  <a:pt x="18469370" y="13405134"/>
                  <a:pt x="18468099" y="13420375"/>
                  <a:pt x="18466829" y="13430534"/>
                </a:cubicBezTo>
                <a:lnTo>
                  <a:pt x="18452860" y="13429265"/>
                </a:lnTo>
                <a:lnTo>
                  <a:pt x="18427460" y="13426725"/>
                </a:lnTo>
                <a:cubicBezTo>
                  <a:pt x="18407140" y="13425456"/>
                  <a:pt x="18388090" y="13426725"/>
                  <a:pt x="18372849" y="13427995"/>
                </a:cubicBezTo>
                <a:lnTo>
                  <a:pt x="18372849" y="13424184"/>
                </a:lnTo>
                <a:lnTo>
                  <a:pt x="18367770" y="13421645"/>
                </a:lnTo>
                <a:lnTo>
                  <a:pt x="18320779" y="13425456"/>
                </a:lnTo>
                <a:cubicBezTo>
                  <a:pt x="18276329" y="13427995"/>
                  <a:pt x="18268710" y="13429265"/>
                  <a:pt x="18222990" y="13434345"/>
                </a:cubicBezTo>
                <a:cubicBezTo>
                  <a:pt x="18196320" y="13431806"/>
                  <a:pt x="18169649" y="13430534"/>
                  <a:pt x="18142979" y="13430534"/>
                </a:cubicBezTo>
                <a:lnTo>
                  <a:pt x="18129010" y="13430534"/>
                </a:lnTo>
                <a:cubicBezTo>
                  <a:pt x="18118849" y="13429265"/>
                  <a:pt x="18106149" y="13427995"/>
                  <a:pt x="18089640" y="13427995"/>
                </a:cubicBezTo>
                <a:lnTo>
                  <a:pt x="18089640" y="13430534"/>
                </a:lnTo>
                <a:lnTo>
                  <a:pt x="18087099" y="13430534"/>
                </a:lnTo>
                <a:cubicBezTo>
                  <a:pt x="18085829" y="13429265"/>
                  <a:pt x="18084560" y="13429265"/>
                  <a:pt x="18083290" y="13427995"/>
                </a:cubicBezTo>
                <a:lnTo>
                  <a:pt x="18080749" y="13427995"/>
                </a:lnTo>
                <a:cubicBezTo>
                  <a:pt x="18069320" y="13430534"/>
                  <a:pt x="18056620" y="13431806"/>
                  <a:pt x="18041379" y="13433075"/>
                </a:cubicBezTo>
                <a:lnTo>
                  <a:pt x="18023599" y="13425456"/>
                </a:lnTo>
                <a:lnTo>
                  <a:pt x="18017249" y="13430534"/>
                </a:lnTo>
                <a:lnTo>
                  <a:pt x="17901679" y="13425456"/>
                </a:lnTo>
                <a:cubicBezTo>
                  <a:pt x="17883899" y="13427995"/>
                  <a:pt x="17866120" y="13429265"/>
                  <a:pt x="17849610" y="13431806"/>
                </a:cubicBezTo>
                <a:cubicBezTo>
                  <a:pt x="17824210" y="13431806"/>
                  <a:pt x="17800079" y="13430534"/>
                  <a:pt x="17774679" y="13430534"/>
                </a:cubicBezTo>
                <a:lnTo>
                  <a:pt x="17774679" y="13425456"/>
                </a:lnTo>
                <a:lnTo>
                  <a:pt x="17723879" y="13429265"/>
                </a:lnTo>
                <a:cubicBezTo>
                  <a:pt x="17714990" y="13429265"/>
                  <a:pt x="17707370" y="13429265"/>
                  <a:pt x="17697210" y="13427995"/>
                </a:cubicBezTo>
                <a:lnTo>
                  <a:pt x="17697210" y="13426725"/>
                </a:lnTo>
                <a:cubicBezTo>
                  <a:pt x="17519151" y="13422915"/>
                  <a:pt x="17177730" y="13421645"/>
                  <a:pt x="16775339" y="13421645"/>
                </a:cubicBezTo>
                <a:lnTo>
                  <a:pt x="16494885" y="13421645"/>
                </a:lnTo>
                <a:lnTo>
                  <a:pt x="16604627" y="13426725"/>
                </a:lnTo>
                <a:cubicBezTo>
                  <a:pt x="16531465" y="13426725"/>
                  <a:pt x="16482690" y="13425456"/>
                  <a:pt x="16421722" y="13425456"/>
                </a:cubicBezTo>
                <a:cubicBezTo>
                  <a:pt x="16385143" y="13425456"/>
                  <a:pt x="16348560" y="13424184"/>
                  <a:pt x="16311980" y="13424184"/>
                </a:cubicBezTo>
                <a:lnTo>
                  <a:pt x="16287592" y="13424184"/>
                </a:lnTo>
                <a:cubicBezTo>
                  <a:pt x="16251011" y="13425456"/>
                  <a:pt x="16202237" y="13426725"/>
                  <a:pt x="16177848" y="13429265"/>
                </a:cubicBezTo>
                <a:lnTo>
                  <a:pt x="16177848" y="13427995"/>
                </a:lnTo>
                <a:cubicBezTo>
                  <a:pt x="15897396" y="13424184"/>
                  <a:pt x="15702296" y="13425456"/>
                  <a:pt x="15543778" y="13429265"/>
                </a:cubicBezTo>
                <a:lnTo>
                  <a:pt x="15519391" y="13429265"/>
                </a:lnTo>
                <a:cubicBezTo>
                  <a:pt x="14934095" y="13429265"/>
                  <a:pt x="14275637" y="13429265"/>
                  <a:pt x="14129314" y="13421645"/>
                </a:cubicBezTo>
                <a:lnTo>
                  <a:pt x="14104925" y="13421645"/>
                </a:lnTo>
                <a:cubicBezTo>
                  <a:pt x="13897632" y="13421645"/>
                  <a:pt x="13836666" y="13421645"/>
                  <a:pt x="13824472" y="13427995"/>
                </a:cubicBezTo>
                <a:lnTo>
                  <a:pt x="13726922" y="13427995"/>
                </a:lnTo>
                <a:lnTo>
                  <a:pt x="13568404" y="13424184"/>
                </a:lnTo>
                <a:lnTo>
                  <a:pt x="13422080" y="13429265"/>
                </a:lnTo>
                <a:cubicBezTo>
                  <a:pt x="13348919" y="13429265"/>
                  <a:pt x="13275757" y="13429265"/>
                  <a:pt x="13226982" y="13427995"/>
                </a:cubicBezTo>
                <a:lnTo>
                  <a:pt x="13226982" y="13419106"/>
                </a:lnTo>
                <a:cubicBezTo>
                  <a:pt x="12922140" y="13416565"/>
                  <a:pt x="12470974" y="13417834"/>
                  <a:pt x="12141746" y="13419106"/>
                </a:cubicBezTo>
                <a:cubicBezTo>
                  <a:pt x="11995422" y="13419106"/>
                  <a:pt x="11861291" y="13420375"/>
                  <a:pt x="11788129" y="13420375"/>
                </a:cubicBezTo>
                <a:lnTo>
                  <a:pt x="11788129" y="13422915"/>
                </a:lnTo>
                <a:lnTo>
                  <a:pt x="10788248" y="13422915"/>
                </a:lnTo>
                <a:lnTo>
                  <a:pt x="10788248" y="13420375"/>
                </a:lnTo>
                <a:cubicBezTo>
                  <a:pt x="10751669" y="13421645"/>
                  <a:pt x="10715087" y="13421645"/>
                  <a:pt x="10690700" y="13422915"/>
                </a:cubicBezTo>
                <a:lnTo>
                  <a:pt x="10361470" y="13422915"/>
                </a:lnTo>
                <a:cubicBezTo>
                  <a:pt x="9495720" y="13422915"/>
                  <a:pt x="8593388" y="13422915"/>
                  <a:pt x="7800801" y="13426725"/>
                </a:cubicBezTo>
                <a:lnTo>
                  <a:pt x="7752026" y="13426725"/>
                </a:lnTo>
                <a:cubicBezTo>
                  <a:pt x="7666670" y="13426725"/>
                  <a:pt x="7593508" y="13427995"/>
                  <a:pt x="7508153" y="13427995"/>
                </a:cubicBezTo>
                <a:lnTo>
                  <a:pt x="7093568" y="13430534"/>
                </a:lnTo>
                <a:lnTo>
                  <a:pt x="7178923" y="13433075"/>
                </a:lnTo>
                <a:lnTo>
                  <a:pt x="6996018" y="13433075"/>
                </a:lnTo>
                <a:cubicBezTo>
                  <a:pt x="6935050" y="13429265"/>
                  <a:pt x="6825307" y="13426725"/>
                  <a:pt x="6752144" y="13424184"/>
                </a:cubicBezTo>
                <a:lnTo>
                  <a:pt x="6739951" y="13430534"/>
                </a:lnTo>
                <a:lnTo>
                  <a:pt x="6727758" y="13425456"/>
                </a:lnTo>
                <a:cubicBezTo>
                  <a:pt x="6691176" y="13426725"/>
                  <a:pt x="6459498" y="13425456"/>
                  <a:pt x="6264398" y="13425456"/>
                </a:cubicBezTo>
                <a:lnTo>
                  <a:pt x="5703489" y="13425456"/>
                </a:lnTo>
                <a:lnTo>
                  <a:pt x="5703489" y="13429265"/>
                </a:lnTo>
                <a:cubicBezTo>
                  <a:pt x="5654715" y="13429265"/>
                  <a:pt x="5618134" y="13429265"/>
                  <a:pt x="5569359" y="13430534"/>
                </a:cubicBezTo>
                <a:lnTo>
                  <a:pt x="5557166" y="13430534"/>
                </a:lnTo>
                <a:cubicBezTo>
                  <a:pt x="5423036" y="13431806"/>
                  <a:pt x="5276711" y="13433075"/>
                  <a:pt x="5106000" y="13434345"/>
                </a:cubicBezTo>
                <a:cubicBezTo>
                  <a:pt x="5118194" y="13433075"/>
                  <a:pt x="5118194" y="13431806"/>
                  <a:pt x="5130388" y="13430534"/>
                </a:cubicBezTo>
                <a:cubicBezTo>
                  <a:pt x="5142581" y="13424184"/>
                  <a:pt x="5069419" y="13420375"/>
                  <a:pt x="5032838" y="13419106"/>
                </a:cubicBezTo>
                <a:lnTo>
                  <a:pt x="5008451" y="13419106"/>
                </a:lnTo>
                <a:cubicBezTo>
                  <a:pt x="4679221" y="13417834"/>
                  <a:pt x="4618253" y="13419106"/>
                  <a:pt x="4569479" y="13422915"/>
                </a:cubicBezTo>
                <a:cubicBezTo>
                  <a:pt x="4557285" y="13424184"/>
                  <a:pt x="4520704" y="13425456"/>
                  <a:pt x="4252443" y="13424184"/>
                </a:cubicBezTo>
                <a:lnTo>
                  <a:pt x="4228056" y="13424184"/>
                </a:lnTo>
                <a:cubicBezTo>
                  <a:pt x="4191475" y="13425456"/>
                  <a:pt x="4167088" y="13426725"/>
                  <a:pt x="4154894" y="13427995"/>
                </a:cubicBezTo>
                <a:cubicBezTo>
                  <a:pt x="3837859" y="13429265"/>
                  <a:pt x="3728116" y="13430534"/>
                  <a:pt x="3642760" y="13431806"/>
                </a:cubicBezTo>
                <a:lnTo>
                  <a:pt x="3337918" y="13429265"/>
                </a:lnTo>
                <a:cubicBezTo>
                  <a:pt x="3228176" y="13427995"/>
                  <a:pt x="3167208" y="13427995"/>
                  <a:pt x="3130626" y="13426725"/>
                </a:cubicBezTo>
                <a:lnTo>
                  <a:pt x="3130626" y="13417834"/>
                </a:lnTo>
                <a:lnTo>
                  <a:pt x="1679580" y="13415295"/>
                </a:lnTo>
                <a:lnTo>
                  <a:pt x="1716161" y="13420375"/>
                </a:lnTo>
                <a:cubicBezTo>
                  <a:pt x="1618611" y="13421645"/>
                  <a:pt x="1423513" y="13424184"/>
                  <a:pt x="1289383" y="13424184"/>
                </a:cubicBezTo>
                <a:cubicBezTo>
                  <a:pt x="1228414" y="13424184"/>
                  <a:pt x="1167446" y="13425456"/>
                  <a:pt x="1118671" y="13425456"/>
                </a:cubicBezTo>
                <a:lnTo>
                  <a:pt x="840740" y="13425456"/>
                </a:lnTo>
                <a:lnTo>
                  <a:pt x="840740" y="13421645"/>
                </a:lnTo>
                <a:lnTo>
                  <a:pt x="836930" y="13422915"/>
                </a:lnTo>
                <a:cubicBezTo>
                  <a:pt x="830580" y="13424184"/>
                  <a:pt x="805180" y="13425456"/>
                  <a:pt x="778510" y="13426725"/>
                </a:cubicBezTo>
                <a:lnTo>
                  <a:pt x="778510" y="13421645"/>
                </a:lnTo>
                <a:cubicBezTo>
                  <a:pt x="754380" y="13420375"/>
                  <a:pt x="734060" y="13421645"/>
                  <a:pt x="713740" y="13424184"/>
                </a:cubicBezTo>
                <a:cubicBezTo>
                  <a:pt x="687070" y="13426725"/>
                  <a:pt x="660400" y="13429265"/>
                  <a:pt x="623570" y="13424184"/>
                </a:cubicBezTo>
                <a:cubicBezTo>
                  <a:pt x="614680" y="13424184"/>
                  <a:pt x="601980" y="13421645"/>
                  <a:pt x="589280" y="13420375"/>
                </a:cubicBezTo>
                <a:cubicBezTo>
                  <a:pt x="561340" y="13416565"/>
                  <a:pt x="551180" y="13415295"/>
                  <a:pt x="546100" y="13420375"/>
                </a:cubicBezTo>
                <a:lnTo>
                  <a:pt x="544830" y="13421645"/>
                </a:lnTo>
                <a:cubicBezTo>
                  <a:pt x="537210" y="13421645"/>
                  <a:pt x="529590" y="13421645"/>
                  <a:pt x="520700" y="13422915"/>
                </a:cubicBezTo>
                <a:cubicBezTo>
                  <a:pt x="497840" y="13424184"/>
                  <a:pt x="474980" y="13425456"/>
                  <a:pt x="448310" y="13421645"/>
                </a:cubicBezTo>
                <a:lnTo>
                  <a:pt x="445770" y="13421645"/>
                </a:lnTo>
                <a:cubicBezTo>
                  <a:pt x="444500" y="13421645"/>
                  <a:pt x="443230" y="13421645"/>
                  <a:pt x="443230" y="13422915"/>
                </a:cubicBezTo>
                <a:lnTo>
                  <a:pt x="429260" y="13420375"/>
                </a:lnTo>
                <a:cubicBezTo>
                  <a:pt x="416560" y="13417834"/>
                  <a:pt x="393700" y="13419106"/>
                  <a:pt x="373380" y="13420375"/>
                </a:cubicBezTo>
                <a:cubicBezTo>
                  <a:pt x="363220" y="13420375"/>
                  <a:pt x="351790" y="13421645"/>
                  <a:pt x="346710" y="13421645"/>
                </a:cubicBezTo>
                <a:lnTo>
                  <a:pt x="345440" y="13416565"/>
                </a:lnTo>
                <a:cubicBezTo>
                  <a:pt x="323850" y="13422915"/>
                  <a:pt x="297180" y="13422915"/>
                  <a:pt x="266700" y="13421645"/>
                </a:cubicBezTo>
                <a:cubicBezTo>
                  <a:pt x="242570" y="13420375"/>
                  <a:pt x="214630" y="13420375"/>
                  <a:pt x="185420" y="13422915"/>
                </a:cubicBezTo>
                <a:lnTo>
                  <a:pt x="189230" y="13417834"/>
                </a:lnTo>
                <a:lnTo>
                  <a:pt x="166370" y="13420375"/>
                </a:lnTo>
                <a:cubicBezTo>
                  <a:pt x="163830" y="13420375"/>
                  <a:pt x="161290" y="13420375"/>
                  <a:pt x="157480" y="13421645"/>
                </a:cubicBezTo>
                <a:lnTo>
                  <a:pt x="156210" y="13415295"/>
                </a:lnTo>
                <a:cubicBezTo>
                  <a:pt x="139700" y="13416565"/>
                  <a:pt x="123190" y="13417834"/>
                  <a:pt x="101600" y="13416565"/>
                </a:cubicBezTo>
                <a:lnTo>
                  <a:pt x="97790" y="13416565"/>
                </a:lnTo>
                <a:lnTo>
                  <a:pt x="87630" y="13415295"/>
                </a:lnTo>
                <a:lnTo>
                  <a:pt x="87630" y="13394975"/>
                </a:lnTo>
                <a:lnTo>
                  <a:pt x="74930" y="13394975"/>
                </a:lnTo>
                <a:lnTo>
                  <a:pt x="74930" y="13388625"/>
                </a:lnTo>
                <a:cubicBezTo>
                  <a:pt x="76200" y="13374656"/>
                  <a:pt x="77470" y="13365765"/>
                  <a:pt x="80010" y="13355606"/>
                </a:cubicBezTo>
                <a:lnTo>
                  <a:pt x="80010" y="13353065"/>
                </a:lnTo>
                <a:cubicBezTo>
                  <a:pt x="85090" y="13328934"/>
                  <a:pt x="88900" y="13302265"/>
                  <a:pt x="87630" y="13232415"/>
                </a:cubicBezTo>
                <a:lnTo>
                  <a:pt x="83820" y="13232415"/>
                </a:lnTo>
                <a:cubicBezTo>
                  <a:pt x="85090" y="13210825"/>
                  <a:pt x="86360" y="13193045"/>
                  <a:pt x="88900" y="13182884"/>
                </a:cubicBezTo>
                <a:cubicBezTo>
                  <a:pt x="88900" y="13134625"/>
                  <a:pt x="87630" y="13132084"/>
                  <a:pt x="81280" y="13132084"/>
                </a:cubicBezTo>
                <a:cubicBezTo>
                  <a:pt x="81280" y="13119384"/>
                  <a:pt x="80010" y="13109225"/>
                  <a:pt x="77470" y="13096525"/>
                </a:cubicBezTo>
                <a:cubicBezTo>
                  <a:pt x="76200" y="13086365"/>
                  <a:pt x="73660" y="13074934"/>
                  <a:pt x="73660" y="13060965"/>
                </a:cubicBezTo>
                <a:lnTo>
                  <a:pt x="78740" y="13060965"/>
                </a:lnTo>
                <a:lnTo>
                  <a:pt x="78740" y="13054615"/>
                </a:lnTo>
                <a:cubicBezTo>
                  <a:pt x="81280" y="12991115"/>
                  <a:pt x="77470" y="12983495"/>
                  <a:pt x="73660" y="12975874"/>
                </a:cubicBezTo>
                <a:cubicBezTo>
                  <a:pt x="72390" y="12973335"/>
                  <a:pt x="71120" y="12969524"/>
                  <a:pt x="69850" y="12959365"/>
                </a:cubicBezTo>
                <a:lnTo>
                  <a:pt x="78740" y="12958095"/>
                </a:lnTo>
                <a:lnTo>
                  <a:pt x="77470" y="12926345"/>
                </a:lnTo>
                <a:lnTo>
                  <a:pt x="86360" y="12940315"/>
                </a:lnTo>
                <a:lnTo>
                  <a:pt x="83820" y="12912374"/>
                </a:lnTo>
                <a:cubicBezTo>
                  <a:pt x="78740" y="12856495"/>
                  <a:pt x="80010" y="12834905"/>
                  <a:pt x="81280" y="12785374"/>
                </a:cubicBezTo>
                <a:lnTo>
                  <a:pt x="82550" y="12762515"/>
                </a:lnTo>
                <a:lnTo>
                  <a:pt x="85090" y="12742195"/>
                </a:lnTo>
                <a:cubicBezTo>
                  <a:pt x="87630" y="12718065"/>
                  <a:pt x="87630" y="12687584"/>
                  <a:pt x="86360" y="12662184"/>
                </a:cubicBezTo>
                <a:lnTo>
                  <a:pt x="88900" y="12662184"/>
                </a:lnTo>
                <a:cubicBezTo>
                  <a:pt x="87630" y="12655834"/>
                  <a:pt x="87630" y="12650755"/>
                  <a:pt x="87630" y="12645674"/>
                </a:cubicBezTo>
                <a:lnTo>
                  <a:pt x="87630" y="12477175"/>
                </a:lnTo>
                <a:lnTo>
                  <a:pt x="83820" y="12477175"/>
                </a:lnTo>
                <a:lnTo>
                  <a:pt x="78740" y="11998959"/>
                </a:lnTo>
                <a:lnTo>
                  <a:pt x="83820" y="11998959"/>
                </a:lnTo>
                <a:cubicBezTo>
                  <a:pt x="83820" y="11956261"/>
                  <a:pt x="83820" y="11922103"/>
                  <a:pt x="82550" y="11879405"/>
                </a:cubicBezTo>
                <a:lnTo>
                  <a:pt x="91440" y="11879405"/>
                </a:lnTo>
                <a:lnTo>
                  <a:pt x="91440" y="11862326"/>
                </a:lnTo>
                <a:lnTo>
                  <a:pt x="86360" y="11179160"/>
                </a:lnTo>
                <a:cubicBezTo>
                  <a:pt x="87630" y="11153541"/>
                  <a:pt x="87630" y="11110843"/>
                  <a:pt x="88900" y="11051066"/>
                </a:cubicBezTo>
                <a:cubicBezTo>
                  <a:pt x="90170" y="10999828"/>
                  <a:pt x="91440" y="10922973"/>
                  <a:pt x="92710" y="10905894"/>
                </a:cubicBezTo>
                <a:lnTo>
                  <a:pt x="93980" y="10905894"/>
                </a:lnTo>
                <a:cubicBezTo>
                  <a:pt x="95250" y="10718022"/>
                  <a:pt x="92710" y="10495994"/>
                  <a:pt x="91440" y="10256885"/>
                </a:cubicBezTo>
                <a:cubicBezTo>
                  <a:pt x="88900" y="9983619"/>
                  <a:pt x="86360" y="9693273"/>
                  <a:pt x="88900" y="9411468"/>
                </a:cubicBezTo>
                <a:lnTo>
                  <a:pt x="88900" y="9394388"/>
                </a:lnTo>
                <a:cubicBezTo>
                  <a:pt x="87630" y="9368770"/>
                  <a:pt x="87630" y="9300453"/>
                  <a:pt x="86360" y="9215058"/>
                </a:cubicBezTo>
                <a:cubicBezTo>
                  <a:pt x="86360" y="9078424"/>
                  <a:pt x="87630" y="8950330"/>
                  <a:pt x="87630" y="8813698"/>
                </a:cubicBezTo>
                <a:cubicBezTo>
                  <a:pt x="88900" y="8480654"/>
                  <a:pt x="91440" y="8130531"/>
                  <a:pt x="86360" y="7703553"/>
                </a:cubicBezTo>
                <a:lnTo>
                  <a:pt x="95250" y="7370509"/>
                </a:lnTo>
                <a:lnTo>
                  <a:pt x="95250" y="7361970"/>
                </a:lnTo>
                <a:cubicBezTo>
                  <a:pt x="95250" y="7233876"/>
                  <a:pt x="93980" y="7191179"/>
                  <a:pt x="87630" y="7182638"/>
                </a:cubicBezTo>
                <a:cubicBezTo>
                  <a:pt x="85090" y="7182638"/>
                  <a:pt x="83820" y="7182638"/>
                  <a:pt x="81280" y="7199717"/>
                </a:cubicBezTo>
                <a:cubicBezTo>
                  <a:pt x="81280" y="7157020"/>
                  <a:pt x="81280" y="7114321"/>
                  <a:pt x="80010" y="7046005"/>
                </a:cubicBezTo>
                <a:cubicBezTo>
                  <a:pt x="78740" y="6866675"/>
                  <a:pt x="80010" y="6798357"/>
                  <a:pt x="80010" y="6764199"/>
                </a:cubicBezTo>
                <a:cubicBezTo>
                  <a:pt x="81280" y="6764199"/>
                  <a:pt x="82550" y="6764199"/>
                  <a:pt x="85090" y="6755660"/>
                </a:cubicBezTo>
                <a:cubicBezTo>
                  <a:pt x="88900" y="6738581"/>
                  <a:pt x="90170" y="6704422"/>
                  <a:pt x="90170" y="6661723"/>
                </a:cubicBezTo>
                <a:lnTo>
                  <a:pt x="90170" y="6653184"/>
                </a:lnTo>
                <a:lnTo>
                  <a:pt x="88900" y="6610487"/>
                </a:lnTo>
                <a:cubicBezTo>
                  <a:pt x="85090" y="6422616"/>
                  <a:pt x="81280" y="6174968"/>
                  <a:pt x="81280" y="5893163"/>
                </a:cubicBezTo>
                <a:lnTo>
                  <a:pt x="82550" y="5893163"/>
                </a:lnTo>
                <a:lnTo>
                  <a:pt x="82550" y="5935860"/>
                </a:lnTo>
                <a:cubicBezTo>
                  <a:pt x="83820" y="6115191"/>
                  <a:pt x="85090" y="6132270"/>
                  <a:pt x="91440" y="6132270"/>
                </a:cubicBezTo>
                <a:cubicBezTo>
                  <a:pt x="99060" y="6132270"/>
                  <a:pt x="99060" y="6098113"/>
                  <a:pt x="101600" y="5944400"/>
                </a:cubicBezTo>
                <a:lnTo>
                  <a:pt x="102870" y="5918781"/>
                </a:lnTo>
                <a:lnTo>
                  <a:pt x="99060" y="5901702"/>
                </a:lnTo>
                <a:cubicBezTo>
                  <a:pt x="92710" y="5850464"/>
                  <a:pt x="92710" y="5466184"/>
                  <a:pt x="92710" y="5175838"/>
                </a:cubicBezTo>
                <a:cubicBezTo>
                  <a:pt x="92710" y="4672003"/>
                  <a:pt x="90170" y="4467053"/>
                  <a:pt x="83820" y="4407276"/>
                </a:cubicBezTo>
                <a:lnTo>
                  <a:pt x="85090" y="4330420"/>
                </a:lnTo>
                <a:lnTo>
                  <a:pt x="87630" y="4330420"/>
                </a:lnTo>
                <a:cubicBezTo>
                  <a:pt x="91440" y="4082772"/>
                  <a:pt x="88900" y="3988837"/>
                  <a:pt x="85090" y="3877823"/>
                </a:cubicBezTo>
                <a:cubicBezTo>
                  <a:pt x="81280" y="3775347"/>
                  <a:pt x="77470" y="3655793"/>
                  <a:pt x="78740" y="3348369"/>
                </a:cubicBezTo>
                <a:cubicBezTo>
                  <a:pt x="80010" y="3237354"/>
                  <a:pt x="80010" y="3160498"/>
                  <a:pt x="81280" y="3126340"/>
                </a:cubicBezTo>
                <a:lnTo>
                  <a:pt x="85090" y="3126340"/>
                </a:lnTo>
                <a:lnTo>
                  <a:pt x="81280" y="2648124"/>
                </a:lnTo>
                <a:lnTo>
                  <a:pt x="81280" y="2622505"/>
                </a:lnTo>
                <a:lnTo>
                  <a:pt x="83820" y="2622505"/>
                </a:lnTo>
                <a:lnTo>
                  <a:pt x="82550" y="2101591"/>
                </a:lnTo>
                <a:lnTo>
                  <a:pt x="87630" y="2161367"/>
                </a:lnTo>
                <a:lnTo>
                  <a:pt x="82550" y="1947878"/>
                </a:lnTo>
                <a:cubicBezTo>
                  <a:pt x="81280" y="1888101"/>
                  <a:pt x="78740" y="1794166"/>
                  <a:pt x="77470" y="1691691"/>
                </a:cubicBezTo>
                <a:lnTo>
                  <a:pt x="81280" y="1597756"/>
                </a:lnTo>
                <a:cubicBezTo>
                  <a:pt x="90170" y="1401346"/>
                  <a:pt x="88900" y="1307410"/>
                  <a:pt x="87630" y="1162237"/>
                </a:cubicBezTo>
                <a:cubicBezTo>
                  <a:pt x="86360" y="1102460"/>
                  <a:pt x="86360" y="1034144"/>
                  <a:pt x="85090" y="940208"/>
                </a:cubicBezTo>
                <a:lnTo>
                  <a:pt x="90170" y="853440"/>
                </a:lnTo>
                <a:cubicBezTo>
                  <a:pt x="88900" y="852170"/>
                  <a:pt x="88900" y="848360"/>
                  <a:pt x="90170" y="845820"/>
                </a:cubicBezTo>
                <a:lnTo>
                  <a:pt x="73660" y="845820"/>
                </a:lnTo>
                <a:lnTo>
                  <a:pt x="90170" y="845820"/>
                </a:lnTo>
                <a:cubicBezTo>
                  <a:pt x="93980" y="825500"/>
                  <a:pt x="95250" y="802640"/>
                  <a:pt x="96520" y="775970"/>
                </a:cubicBezTo>
                <a:cubicBezTo>
                  <a:pt x="97790" y="755650"/>
                  <a:pt x="97790" y="734060"/>
                  <a:pt x="100330" y="708660"/>
                </a:cubicBezTo>
                <a:lnTo>
                  <a:pt x="87630" y="707390"/>
                </a:lnTo>
                <a:cubicBezTo>
                  <a:pt x="86360" y="711200"/>
                  <a:pt x="86360" y="718820"/>
                  <a:pt x="83820" y="728980"/>
                </a:cubicBezTo>
                <a:cubicBezTo>
                  <a:pt x="82550" y="734060"/>
                  <a:pt x="82550" y="741680"/>
                  <a:pt x="81280" y="749300"/>
                </a:cubicBezTo>
                <a:cubicBezTo>
                  <a:pt x="81280" y="735330"/>
                  <a:pt x="81280" y="718820"/>
                  <a:pt x="78740" y="697230"/>
                </a:cubicBezTo>
                <a:cubicBezTo>
                  <a:pt x="83820" y="690880"/>
                  <a:pt x="83820" y="673100"/>
                  <a:pt x="82550" y="635000"/>
                </a:cubicBezTo>
                <a:lnTo>
                  <a:pt x="82550" y="624840"/>
                </a:lnTo>
                <a:lnTo>
                  <a:pt x="91440" y="627380"/>
                </a:lnTo>
                <a:lnTo>
                  <a:pt x="91440" y="617220"/>
                </a:lnTo>
                <a:cubicBezTo>
                  <a:pt x="90170" y="586740"/>
                  <a:pt x="87630" y="576580"/>
                  <a:pt x="85090" y="566420"/>
                </a:cubicBezTo>
                <a:cubicBezTo>
                  <a:pt x="83820" y="561340"/>
                  <a:pt x="82550" y="554990"/>
                  <a:pt x="81280" y="546100"/>
                </a:cubicBezTo>
                <a:cubicBezTo>
                  <a:pt x="82550" y="499110"/>
                  <a:pt x="87630" y="486410"/>
                  <a:pt x="92710" y="476250"/>
                </a:cubicBezTo>
                <a:lnTo>
                  <a:pt x="93980" y="473710"/>
                </a:lnTo>
                <a:lnTo>
                  <a:pt x="93980" y="471170"/>
                </a:lnTo>
                <a:cubicBezTo>
                  <a:pt x="93980" y="441960"/>
                  <a:pt x="93980" y="438150"/>
                  <a:pt x="87630" y="436880"/>
                </a:cubicBezTo>
                <a:cubicBezTo>
                  <a:pt x="85090" y="436880"/>
                  <a:pt x="83820" y="436880"/>
                  <a:pt x="82550" y="438150"/>
                </a:cubicBezTo>
                <a:lnTo>
                  <a:pt x="82550" y="430530"/>
                </a:lnTo>
                <a:cubicBezTo>
                  <a:pt x="85090" y="364490"/>
                  <a:pt x="82550" y="316230"/>
                  <a:pt x="78740" y="242570"/>
                </a:cubicBezTo>
                <a:lnTo>
                  <a:pt x="77470" y="229870"/>
                </a:lnTo>
                <a:cubicBezTo>
                  <a:pt x="83820" y="229870"/>
                  <a:pt x="83820" y="223520"/>
                  <a:pt x="85090" y="220980"/>
                </a:cubicBezTo>
                <a:lnTo>
                  <a:pt x="85090" y="219710"/>
                </a:lnTo>
                <a:lnTo>
                  <a:pt x="81280" y="194310"/>
                </a:lnTo>
                <a:lnTo>
                  <a:pt x="83820" y="198120"/>
                </a:lnTo>
                <a:lnTo>
                  <a:pt x="82550" y="171450"/>
                </a:lnTo>
                <a:cubicBezTo>
                  <a:pt x="81280" y="154940"/>
                  <a:pt x="80010" y="151130"/>
                  <a:pt x="77470" y="147320"/>
                </a:cubicBezTo>
                <a:cubicBezTo>
                  <a:pt x="76200" y="144780"/>
                  <a:pt x="73660" y="142240"/>
                  <a:pt x="72390" y="111760"/>
                </a:cubicBezTo>
                <a:lnTo>
                  <a:pt x="72390" y="109220"/>
                </a:lnTo>
                <a:cubicBezTo>
                  <a:pt x="69850" y="102870"/>
                  <a:pt x="71120" y="87630"/>
                  <a:pt x="72390" y="77470"/>
                </a:cubicBezTo>
                <a:lnTo>
                  <a:pt x="83820" y="78740"/>
                </a:lnTo>
                <a:lnTo>
                  <a:pt x="109220" y="81280"/>
                </a:lnTo>
                <a:cubicBezTo>
                  <a:pt x="129540" y="82550"/>
                  <a:pt x="148590" y="81280"/>
                  <a:pt x="163830" y="80010"/>
                </a:cubicBezTo>
                <a:lnTo>
                  <a:pt x="163830" y="83820"/>
                </a:lnTo>
                <a:lnTo>
                  <a:pt x="168910" y="86360"/>
                </a:lnTo>
                <a:lnTo>
                  <a:pt x="217170" y="82550"/>
                </a:lnTo>
                <a:cubicBezTo>
                  <a:pt x="261620" y="80010"/>
                  <a:pt x="269240" y="78740"/>
                  <a:pt x="314960" y="73660"/>
                </a:cubicBezTo>
                <a:cubicBezTo>
                  <a:pt x="346710" y="76200"/>
                  <a:pt x="377190" y="78740"/>
                  <a:pt x="408940" y="77470"/>
                </a:cubicBezTo>
                <a:cubicBezTo>
                  <a:pt x="419100" y="78740"/>
                  <a:pt x="431800" y="80010"/>
                  <a:pt x="448310" y="80010"/>
                </a:cubicBezTo>
                <a:lnTo>
                  <a:pt x="448310" y="77470"/>
                </a:lnTo>
                <a:lnTo>
                  <a:pt x="450850" y="77470"/>
                </a:lnTo>
                <a:cubicBezTo>
                  <a:pt x="452120" y="78740"/>
                  <a:pt x="453390" y="78740"/>
                  <a:pt x="454660" y="80010"/>
                </a:cubicBezTo>
                <a:lnTo>
                  <a:pt x="457200" y="80010"/>
                </a:lnTo>
                <a:cubicBezTo>
                  <a:pt x="468630" y="77470"/>
                  <a:pt x="481330" y="76200"/>
                  <a:pt x="496570" y="74930"/>
                </a:cubicBezTo>
                <a:lnTo>
                  <a:pt x="514350" y="82550"/>
                </a:lnTo>
                <a:lnTo>
                  <a:pt x="519430" y="78740"/>
                </a:lnTo>
                <a:lnTo>
                  <a:pt x="635000" y="85090"/>
                </a:lnTo>
                <a:cubicBezTo>
                  <a:pt x="652780" y="82550"/>
                  <a:pt x="670560" y="81280"/>
                  <a:pt x="687070" y="78740"/>
                </a:cubicBezTo>
                <a:cubicBezTo>
                  <a:pt x="712470" y="78740"/>
                  <a:pt x="736600" y="80010"/>
                  <a:pt x="762000" y="80010"/>
                </a:cubicBezTo>
                <a:lnTo>
                  <a:pt x="762000" y="85090"/>
                </a:lnTo>
                <a:lnTo>
                  <a:pt x="812800" y="81280"/>
                </a:lnTo>
                <a:cubicBezTo>
                  <a:pt x="821690" y="81280"/>
                  <a:pt x="830580" y="81280"/>
                  <a:pt x="840740" y="82550"/>
                </a:cubicBezTo>
                <a:lnTo>
                  <a:pt x="840740" y="85090"/>
                </a:lnTo>
                <a:cubicBezTo>
                  <a:pt x="1008926" y="83820"/>
                  <a:pt x="1350349" y="85090"/>
                  <a:pt x="1752741" y="85090"/>
                </a:cubicBezTo>
                <a:lnTo>
                  <a:pt x="2033194" y="85090"/>
                </a:lnTo>
                <a:lnTo>
                  <a:pt x="1923452" y="80010"/>
                </a:lnTo>
                <a:cubicBezTo>
                  <a:pt x="1996614" y="80010"/>
                  <a:pt x="2045389" y="81280"/>
                  <a:pt x="2106357" y="81280"/>
                </a:cubicBezTo>
                <a:cubicBezTo>
                  <a:pt x="2142938" y="81280"/>
                  <a:pt x="2179519" y="82550"/>
                  <a:pt x="2216099" y="82550"/>
                </a:cubicBezTo>
                <a:lnTo>
                  <a:pt x="2240487" y="82550"/>
                </a:lnTo>
                <a:cubicBezTo>
                  <a:pt x="2277068" y="81280"/>
                  <a:pt x="2325843" y="80010"/>
                  <a:pt x="2350230" y="77470"/>
                </a:cubicBezTo>
                <a:lnTo>
                  <a:pt x="2350230" y="78740"/>
                </a:lnTo>
                <a:cubicBezTo>
                  <a:pt x="2630684" y="83820"/>
                  <a:pt x="2825783" y="82550"/>
                  <a:pt x="2984301" y="78740"/>
                </a:cubicBezTo>
                <a:lnTo>
                  <a:pt x="3008688" y="78740"/>
                </a:lnTo>
                <a:cubicBezTo>
                  <a:pt x="3593984" y="78740"/>
                  <a:pt x="4252442" y="78740"/>
                  <a:pt x="4398766" y="86360"/>
                </a:cubicBezTo>
                <a:lnTo>
                  <a:pt x="4423153" y="86360"/>
                </a:lnTo>
                <a:cubicBezTo>
                  <a:pt x="4642639" y="86360"/>
                  <a:pt x="4691414" y="86360"/>
                  <a:pt x="4703607" y="80010"/>
                </a:cubicBezTo>
                <a:lnTo>
                  <a:pt x="4801157" y="80010"/>
                </a:lnTo>
                <a:lnTo>
                  <a:pt x="4959674" y="83820"/>
                </a:lnTo>
                <a:lnTo>
                  <a:pt x="5105999" y="78740"/>
                </a:lnTo>
                <a:cubicBezTo>
                  <a:pt x="5179161" y="78740"/>
                  <a:pt x="5252322" y="78740"/>
                  <a:pt x="5301097" y="80010"/>
                </a:cubicBezTo>
                <a:lnTo>
                  <a:pt x="5301097" y="88900"/>
                </a:lnTo>
                <a:cubicBezTo>
                  <a:pt x="5605939" y="91440"/>
                  <a:pt x="6057104" y="90170"/>
                  <a:pt x="6386334" y="88900"/>
                </a:cubicBezTo>
                <a:cubicBezTo>
                  <a:pt x="6532657" y="88900"/>
                  <a:pt x="6666788" y="87630"/>
                  <a:pt x="6739949" y="87630"/>
                </a:cubicBezTo>
                <a:lnTo>
                  <a:pt x="6739949" y="85090"/>
                </a:lnTo>
                <a:lnTo>
                  <a:pt x="7739831" y="85090"/>
                </a:lnTo>
                <a:lnTo>
                  <a:pt x="7739831" y="87630"/>
                </a:lnTo>
                <a:cubicBezTo>
                  <a:pt x="7776411" y="86360"/>
                  <a:pt x="7812992" y="86360"/>
                  <a:pt x="7837379" y="85090"/>
                </a:cubicBezTo>
                <a:lnTo>
                  <a:pt x="8166608" y="85090"/>
                </a:lnTo>
                <a:cubicBezTo>
                  <a:pt x="9032359" y="85090"/>
                  <a:pt x="9934690" y="85090"/>
                  <a:pt x="10727278" y="81280"/>
                </a:cubicBezTo>
                <a:lnTo>
                  <a:pt x="10776054" y="81280"/>
                </a:lnTo>
                <a:cubicBezTo>
                  <a:pt x="10861409" y="81280"/>
                  <a:pt x="10934571" y="80010"/>
                  <a:pt x="11019927" y="80010"/>
                </a:cubicBezTo>
                <a:lnTo>
                  <a:pt x="11434511" y="77470"/>
                </a:lnTo>
                <a:lnTo>
                  <a:pt x="11349155" y="74930"/>
                </a:lnTo>
                <a:lnTo>
                  <a:pt x="11532060" y="74930"/>
                </a:lnTo>
                <a:cubicBezTo>
                  <a:pt x="11593029" y="78740"/>
                  <a:pt x="11702771" y="81280"/>
                  <a:pt x="11775934" y="83820"/>
                </a:cubicBezTo>
                <a:lnTo>
                  <a:pt x="11788129" y="77470"/>
                </a:lnTo>
                <a:lnTo>
                  <a:pt x="11800321" y="82550"/>
                </a:lnTo>
                <a:cubicBezTo>
                  <a:pt x="11836902" y="81280"/>
                  <a:pt x="12068581" y="82550"/>
                  <a:pt x="12263681" y="82550"/>
                </a:cubicBezTo>
                <a:lnTo>
                  <a:pt x="12824590" y="82550"/>
                </a:lnTo>
                <a:lnTo>
                  <a:pt x="12824590" y="78740"/>
                </a:lnTo>
                <a:cubicBezTo>
                  <a:pt x="12873364" y="78740"/>
                  <a:pt x="12909945" y="78740"/>
                  <a:pt x="12958719" y="77470"/>
                </a:cubicBezTo>
                <a:lnTo>
                  <a:pt x="12970914" y="77470"/>
                </a:lnTo>
                <a:cubicBezTo>
                  <a:pt x="13105043" y="76200"/>
                  <a:pt x="13251368" y="74930"/>
                  <a:pt x="13422078" y="73660"/>
                </a:cubicBezTo>
                <a:cubicBezTo>
                  <a:pt x="13409884" y="74930"/>
                  <a:pt x="13409884" y="76200"/>
                  <a:pt x="13397692" y="77470"/>
                </a:cubicBezTo>
                <a:cubicBezTo>
                  <a:pt x="13385498" y="83820"/>
                  <a:pt x="13458661" y="87630"/>
                  <a:pt x="13495241" y="88900"/>
                </a:cubicBezTo>
                <a:lnTo>
                  <a:pt x="13519629" y="88900"/>
                </a:lnTo>
                <a:cubicBezTo>
                  <a:pt x="13848857" y="90170"/>
                  <a:pt x="13909825" y="88900"/>
                  <a:pt x="13958599" y="85090"/>
                </a:cubicBezTo>
                <a:cubicBezTo>
                  <a:pt x="13970794" y="83820"/>
                  <a:pt x="13995181" y="82550"/>
                  <a:pt x="14275636" y="83820"/>
                </a:cubicBezTo>
                <a:lnTo>
                  <a:pt x="14300022" y="83820"/>
                </a:lnTo>
                <a:cubicBezTo>
                  <a:pt x="14336604" y="82550"/>
                  <a:pt x="14360990" y="81280"/>
                  <a:pt x="14373185" y="80010"/>
                </a:cubicBezTo>
                <a:cubicBezTo>
                  <a:pt x="14690220" y="78740"/>
                  <a:pt x="14799963" y="77470"/>
                  <a:pt x="14885319" y="76200"/>
                </a:cubicBezTo>
                <a:lnTo>
                  <a:pt x="15190161" y="78740"/>
                </a:lnTo>
                <a:cubicBezTo>
                  <a:pt x="15299903" y="80010"/>
                  <a:pt x="15360872" y="80010"/>
                  <a:pt x="15397452" y="81280"/>
                </a:cubicBezTo>
                <a:lnTo>
                  <a:pt x="15397452" y="90170"/>
                </a:lnTo>
                <a:lnTo>
                  <a:pt x="16848500" y="92710"/>
                </a:lnTo>
                <a:lnTo>
                  <a:pt x="16799723" y="91440"/>
                </a:lnTo>
                <a:cubicBezTo>
                  <a:pt x="16897274" y="90170"/>
                  <a:pt x="17092374" y="87630"/>
                  <a:pt x="17226502" y="87630"/>
                </a:cubicBezTo>
                <a:cubicBezTo>
                  <a:pt x="17519151" y="85090"/>
                  <a:pt x="17641088" y="83820"/>
                  <a:pt x="17684510" y="81280"/>
                </a:cubicBezTo>
                <a:lnTo>
                  <a:pt x="17694670" y="81280"/>
                </a:lnTo>
                <a:lnTo>
                  <a:pt x="17697210" y="85090"/>
                </a:lnTo>
                <a:lnTo>
                  <a:pt x="17697210" y="63500"/>
                </a:lnTo>
                <a:lnTo>
                  <a:pt x="17699749" y="63500"/>
                </a:lnTo>
                <a:lnTo>
                  <a:pt x="17698479" y="85090"/>
                </a:lnTo>
                <a:lnTo>
                  <a:pt x="17702290" y="83820"/>
                </a:lnTo>
                <a:cubicBezTo>
                  <a:pt x="17708640" y="82550"/>
                  <a:pt x="17734040" y="81280"/>
                  <a:pt x="17760710" y="80010"/>
                </a:cubicBezTo>
                <a:lnTo>
                  <a:pt x="17760710" y="85090"/>
                </a:lnTo>
                <a:cubicBezTo>
                  <a:pt x="17784840" y="86360"/>
                  <a:pt x="17805160" y="85090"/>
                  <a:pt x="17825479" y="82550"/>
                </a:cubicBezTo>
                <a:cubicBezTo>
                  <a:pt x="17852149" y="80010"/>
                  <a:pt x="17878820" y="77470"/>
                  <a:pt x="17915649" y="82550"/>
                </a:cubicBezTo>
                <a:cubicBezTo>
                  <a:pt x="17924540" y="82550"/>
                  <a:pt x="17937240" y="85090"/>
                  <a:pt x="17949940" y="86360"/>
                </a:cubicBezTo>
                <a:cubicBezTo>
                  <a:pt x="17977879" y="90170"/>
                  <a:pt x="17988040" y="91440"/>
                  <a:pt x="17993120" y="86360"/>
                </a:cubicBezTo>
                <a:lnTo>
                  <a:pt x="17994390" y="85090"/>
                </a:lnTo>
                <a:cubicBezTo>
                  <a:pt x="18002010" y="85090"/>
                  <a:pt x="18009629" y="85090"/>
                  <a:pt x="18018520" y="83820"/>
                </a:cubicBezTo>
                <a:cubicBezTo>
                  <a:pt x="18041379" y="82550"/>
                  <a:pt x="18064240" y="81280"/>
                  <a:pt x="18090910" y="85090"/>
                </a:cubicBezTo>
                <a:lnTo>
                  <a:pt x="18093449" y="85090"/>
                </a:lnTo>
                <a:cubicBezTo>
                  <a:pt x="18094720" y="85090"/>
                  <a:pt x="18095990" y="85090"/>
                  <a:pt x="18095990" y="83820"/>
                </a:cubicBezTo>
                <a:lnTo>
                  <a:pt x="18109960" y="86360"/>
                </a:lnTo>
                <a:cubicBezTo>
                  <a:pt x="18122660" y="88900"/>
                  <a:pt x="18145520" y="87630"/>
                  <a:pt x="18165840" y="86360"/>
                </a:cubicBezTo>
                <a:cubicBezTo>
                  <a:pt x="18175999" y="86360"/>
                  <a:pt x="18187429" y="85090"/>
                  <a:pt x="18193779" y="85090"/>
                </a:cubicBezTo>
                <a:lnTo>
                  <a:pt x="18195049" y="90170"/>
                </a:lnTo>
                <a:cubicBezTo>
                  <a:pt x="18216640" y="83820"/>
                  <a:pt x="18243310" y="83820"/>
                  <a:pt x="18273790" y="85090"/>
                </a:cubicBezTo>
                <a:cubicBezTo>
                  <a:pt x="18297920" y="86360"/>
                  <a:pt x="18325860" y="86360"/>
                  <a:pt x="18355069" y="83820"/>
                </a:cubicBezTo>
                <a:lnTo>
                  <a:pt x="18351260" y="87630"/>
                </a:lnTo>
                <a:lnTo>
                  <a:pt x="18374119" y="85090"/>
                </a:lnTo>
                <a:cubicBezTo>
                  <a:pt x="18376660" y="85090"/>
                  <a:pt x="18379199" y="85090"/>
                  <a:pt x="18383010" y="83820"/>
                </a:cubicBezTo>
                <a:lnTo>
                  <a:pt x="18384279" y="90170"/>
                </a:lnTo>
                <a:cubicBezTo>
                  <a:pt x="18400790" y="88900"/>
                  <a:pt x="18417299" y="87630"/>
                  <a:pt x="18438890" y="88900"/>
                </a:cubicBezTo>
                <a:lnTo>
                  <a:pt x="18442699" y="88900"/>
                </a:lnTo>
                <a:lnTo>
                  <a:pt x="18452860" y="90170"/>
                </a:lnTo>
                <a:lnTo>
                  <a:pt x="18452860" y="109220"/>
                </a:lnTo>
                <a:lnTo>
                  <a:pt x="18465560" y="109220"/>
                </a:lnTo>
                <a:lnTo>
                  <a:pt x="18465560" y="115570"/>
                </a:lnTo>
                <a:cubicBezTo>
                  <a:pt x="18464290" y="129540"/>
                  <a:pt x="18463019" y="138430"/>
                  <a:pt x="18460479" y="148590"/>
                </a:cubicBezTo>
                <a:lnTo>
                  <a:pt x="18460479" y="151130"/>
                </a:lnTo>
                <a:cubicBezTo>
                  <a:pt x="18455399" y="176530"/>
                  <a:pt x="18451590" y="201930"/>
                  <a:pt x="18452860" y="271780"/>
                </a:cubicBezTo>
                <a:lnTo>
                  <a:pt x="18456669" y="271780"/>
                </a:lnTo>
                <a:cubicBezTo>
                  <a:pt x="18455399" y="293370"/>
                  <a:pt x="18454129" y="311150"/>
                  <a:pt x="18451590" y="321310"/>
                </a:cubicBezTo>
                <a:cubicBezTo>
                  <a:pt x="18451590" y="369570"/>
                  <a:pt x="18452860" y="372110"/>
                  <a:pt x="18459210" y="372110"/>
                </a:cubicBezTo>
                <a:cubicBezTo>
                  <a:pt x="18459210" y="384810"/>
                  <a:pt x="18460479" y="394970"/>
                  <a:pt x="18463019" y="407670"/>
                </a:cubicBezTo>
                <a:cubicBezTo>
                  <a:pt x="18464290" y="417830"/>
                  <a:pt x="18466829" y="429260"/>
                  <a:pt x="18466829" y="443230"/>
                </a:cubicBezTo>
                <a:lnTo>
                  <a:pt x="18461749" y="443230"/>
                </a:lnTo>
                <a:lnTo>
                  <a:pt x="18461749" y="449580"/>
                </a:lnTo>
                <a:cubicBezTo>
                  <a:pt x="18459210" y="513080"/>
                  <a:pt x="18463019" y="520700"/>
                  <a:pt x="18466829" y="528320"/>
                </a:cubicBezTo>
                <a:cubicBezTo>
                  <a:pt x="18468099" y="530860"/>
                  <a:pt x="18469369" y="534670"/>
                  <a:pt x="18470640" y="544830"/>
                </a:cubicBezTo>
                <a:lnTo>
                  <a:pt x="18461749" y="546100"/>
                </a:lnTo>
                <a:close/>
                <a:moveTo>
                  <a:pt x="18465560" y="756920"/>
                </a:moveTo>
                <a:lnTo>
                  <a:pt x="18463019" y="751840"/>
                </a:lnTo>
                <a:lnTo>
                  <a:pt x="18464290" y="745490"/>
                </a:lnTo>
                <a:cubicBezTo>
                  <a:pt x="18465560" y="750570"/>
                  <a:pt x="18465560" y="754380"/>
                  <a:pt x="18465560" y="756920"/>
                </a:cubicBezTo>
                <a:close/>
                <a:moveTo>
                  <a:pt x="73660" y="12748545"/>
                </a:moveTo>
                <a:lnTo>
                  <a:pt x="76200" y="12753624"/>
                </a:lnTo>
                <a:lnTo>
                  <a:pt x="74930" y="12759974"/>
                </a:lnTo>
                <a:cubicBezTo>
                  <a:pt x="73660" y="12756165"/>
                  <a:pt x="73660" y="12752355"/>
                  <a:pt x="73660" y="12748545"/>
                </a:cubicBezTo>
                <a:close/>
                <a:moveTo>
                  <a:pt x="18501119" y="628650"/>
                </a:moveTo>
                <a:lnTo>
                  <a:pt x="18501119" y="619760"/>
                </a:lnTo>
                <a:cubicBezTo>
                  <a:pt x="18501119" y="623570"/>
                  <a:pt x="18502390" y="626110"/>
                  <a:pt x="18502390" y="628650"/>
                </a:cubicBezTo>
                <a:lnTo>
                  <a:pt x="18501119" y="628650"/>
                </a:lnTo>
                <a:close/>
                <a:moveTo>
                  <a:pt x="18530329" y="3963218"/>
                </a:moveTo>
                <a:lnTo>
                  <a:pt x="18526519" y="3954679"/>
                </a:lnTo>
                <a:cubicBezTo>
                  <a:pt x="18527790" y="3954679"/>
                  <a:pt x="18529060" y="3963218"/>
                  <a:pt x="18530329" y="3963218"/>
                </a:cubicBezTo>
                <a:close/>
              </a:path>
            </a:pathLst>
          </a:custGeom>
          <a:solidFill>
            <a:srgbClr val="3333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3" name="Google Shape;313;p36" title="WhatsApp Image 2026-05-01 at 15.07.41.jpeg"/>
          <p:cNvPicPr preferRelativeResize="0"/>
          <p:nvPr/>
        </p:nvPicPr>
        <p:blipFill rotWithShape="1">
          <a:blip r:embed="rId3">
            <a:alphaModFix/>
          </a:blip>
          <a:srcRect b="0" l="0" r="0" t="0"/>
          <a:stretch/>
        </p:blipFill>
        <p:spPr>
          <a:xfrm>
            <a:off x="2291325" y="658650"/>
            <a:ext cx="5170949" cy="6096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